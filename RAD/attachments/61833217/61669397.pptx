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7" r:id="rId5"/>
    <p:sldId id="260" r:id="rId6"/>
    <p:sldId id="265" r:id="rId7"/>
    <p:sldId id="266" r:id="rId8"/>
    <p:sldId id="264" r:id="rId9"/>
    <p:sldId id="274" r:id="rId10"/>
    <p:sldId id="271" r:id="rId11"/>
    <p:sldId id="267" r:id="rId12"/>
    <p:sldId id="268" r:id="rId13"/>
    <p:sldId id="269" r:id="rId14"/>
    <p:sldId id="273" r:id="rId15"/>
    <p:sldId id="270" r:id="rId16"/>
    <p:sldId id="275" r:id="rId17"/>
    <p:sldId id="276" r:id="rId18"/>
    <p:sldId id="278" r:id="rId19"/>
    <p:sldId id="279" r:id="rId20"/>
    <p:sldId id="285" r:id="rId21"/>
    <p:sldId id="286" r:id="rId22"/>
    <p:sldId id="280" r:id="rId23"/>
    <p:sldId id="281" r:id="rId24"/>
    <p:sldId id="282" r:id="rId25"/>
    <p:sldId id="283" r:id="rId26"/>
    <p:sldId id="284" r:id="rId27"/>
  </p:sldIdLst>
  <p:sldSz cx="9144000" cy="6858000" type="screen4x3"/>
  <p:notesSz cx="6858000" cy="9144000"/>
  <p:defaultTextStyle>
    <a:defPPr>
      <a:defRPr lang="en-US"/>
    </a:defPPr>
    <a:lvl1pPr marL="0" algn="l" defTabSz="913513" rtl="0" eaLnBrk="1" latinLnBrk="0" hangingPunct="1">
      <a:defRPr sz="1800" kern="1200">
        <a:solidFill>
          <a:schemeClr val="tx1"/>
        </a:solidFill>
        <a:latin typeface="+mn-lt"/>
        <a:ea typeface="+mn-ea"/>
        <a:cs typeface="+mn-cs"/>
      </a:defRPr>
    </a:lvl1pPr>
    <a:lvl2pPr marL="456757" algn="l" defTabSz="913513" rtl="0" eaLnBrk="1" latinLnBrk="0" hangingPunct="1">
      <a:defRPr sz="1800" kern="1200">
        <a:solidFill>
          <a:schemeClr val="tx1"/>
        </a:solidFill>
        <a:latin typeface="+mn-lt"/>
        <a:ea typeface="+mn-ea"/>
        <a:cs typeface="+mn-cs"/>
      </a:defRPr>
    </a:lvl2pPr>
    <a:lvl3pPr marL="913513" algn="l" defTabSz="913513" rtl="0" eaLnBrk="1" latinLnBrk="0" hangingPunct="1">
      <a:defRPr sz="1800" kern="1200">
        <a:solidFill>
          <a:schemeClr val="tx1"/>
        </a:solidFill>
        <a:latin typeface="+mn-lt"/>
        <a:ea typeface="+mn-ea"/>
        <a:cs typeface="+mn-cs"/>
      </a:defRPr>
    </a:lvl3pPr>
    <a:lvl4pPr marL="1370268" algn="l" defTabSz="913513" rtl="0" eaLnBrk="1" latinLnBrk="0" hangingPunct="1">
      <a:defRPr sz="1800" kern="1200">
        <a:solidFill>
          <a:schemeClr val="tx1"/>
        </a:solidFill>
        <a:latin typeface="+mn-lt"/>
        <a:ea typeface="+mn-ea"/>
        <a:cs typeface="+mn-cs"/>
      </a:defRPr>
    </a:lvl4pPr>
    <a:lvl5pPr marL="1827025" algn="l" defTabSz="913513" rtl="0" eaLnBrk="1" latinLnBrk="0" hangingPunct="1">
      <a:defRPr sz="1800" kern="1200">
        <a:solidFill>
          <a:schemeClr val="tx1"/>
        </a:solidFill>
        <a:latin typeface="+mn-lt"/>
        <a:ea typeface="+mn-ea"/>
        <a:cs typeface="+mn-cs"/>
      </a:defRPr>
    </a:lvl5pPr>
    <a:lvl6pPr marL="2283783" algn="l" defTabSz="913513" rtl="0" eaLnBrk="1" latinLnBrk="0" hangingPunct="1">
      <a:defRPr sz="1800" kern="1200">
        <a:solidFill>
          <a:schemeClr val="tx1"/>
        </a:solidFill>
        <a:latin typeface="+mn-lt"/>
        <a:ea typeface="+mn-ea"/>
        <a:cs typeface="+mn-cs"/>
      </a:defRPr>
    </a:lvl6pPr>
    <a:lvl7pPr marL="2740540" algn="l" defTabSz="913513" rtl="0" eaLnBrk="1" latinLnBrk="0" hangingPunct="1">
      <a:defRPr sz="1800" kern="1200">
        <a:solidFill>
          <a:schemeClr val="tx1"/>
        </a:solidFill>
        <a:latin typeface="+mn-lt"/>
        <a:ea typeface="+mn-ea"/>
        <a:cs typeface="+mn-cs"/>
      </a:defRPr>
    </a:lvl7pPr>
    <a:lvl8pPr marL="3197295" algn="l" defTabSz="913513" rtl="0" eaLnBrk="1" latinLnBrk="0" hangingPunct="1">
      <a:defRPr sz="1800" kern="1200">
        <a:solidFill>
          <a:schemeClr val="tx1"/>
        </a:solidFill>
        <a:latin typeface="+mn-lt"/>
        <a:ea typeface="+mn-ea"/>
        <a:cs typeface="+mn-cs"/>
      </a:defRPr>
    </a:lvl8pPr>
    <a:lvl9pPr marL="3654045" algn="l" defTabSz="913513"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9134" autoAdjust="0"/>
  </p:normalViewPr>
  <p:slideViewPr>
    <p:cSldViewPr>
      <p:cViewPr varScale="1">
        <p:scale>
          <a:sx n="64" d="100"/>
          <a:sy n="64" d="100"/>
        </p:scale>
        <p:origin x="-1978" y="-6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dule Title">
    <p:spTree>
      <p:nvGrpSpPr>
        <p:cNvPr id="1" name=""/>
        <p:cNvGrpSpPr/>
        <p:nvPr/>
      </p:nvGrpSpPr>
      <p:grpSpPr>
        <a:xfrm>
          <a:off x="0" y="0"/>
          <a:ext cx="0" cy="0"/>
          <a:chOff x="0" y="0"/>
          <a:chExt cx="0" cy="0"/>
        </a:xfrm>
      </p:grpSpPr>
      <p:sp>
        <p:nvSpPr>
          <p:cNvPr id="6" name="Rectangle 5"/>
          <p:cNvSpPr/>
          <p:nvPr userDrawn="1"/>
        </p:nvSpPr>
        <p:spPr bwMode="auto">
          <a:xfrm>
            <a:off x="0" y="0"/>
            <a:ext cx="9144000" cy="6858000"/>
          </a:xfrm>
          <a:prstGeom prst="rect">
            <a:avLst/>
          </a:prstGeom>
          <a:solidFill>
            <a:srgbClr val="064067"/>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dirty="0">
              <a:solidFill>
                <a:prstClr val="black"/>
              </a:solidFill>
              <a:latin typeface="Arial" charset="0"/>
            </a:endParaRPr>
          </a:p>
        </p:txBody>
      </p:sp>
      <p:sp>
        <p:nvSpPr>
          <p:cNvPr id="10" name="Text Placeholder 9"/>
          <p:cNvSpPr>
            <a:spLocks noGrp="1"/>
          </p:cNvSpPr>
          <p:nvPr>
            <p:ph type="body" sz="quarter" idx="10" hasCustomPrompt="1"/>
          </p:nvPr>
        </p:nvSpPr>
        <p:spPr>
          <a:xfrm>
            <a:off x="221488" y="2054482"/>
            <a:ext cx="6907230" cy="1298318"/>
          </a:xfrm>
          <a:prstGeom prst="rect">
            <a:avLst/>
          </a:prstGeom>
          <a:ln>
            <a:noFill/>
          </a:ln>
        </p:spPr>
        <p:txBody>
          <a:bodyPr lIns="0" tIns="0" rIns="0" bIns="0" anchor="ctr" anchorCtr="0">
            <a:normAutofit/>
          </a:bodyPr>
          <a:lstStyle>
            <a:lvl1pPr marL="0" indent="0">
              <a:buNone/>
              <a:defRPr sz="3600" baseline="0">
                <a:solidFill>
                  <a:schemeClr val="bg1"/>
                </a:solidFill>
                <a:latin typeface="+mj-lt"/>
              </a:defRPr>
            </a:lvl1pPr>
          </a:lstStyle>
          <a:p>
            <a:pPr lvl="0"/>
            <a:r>
              <a:rPr lang="en-US" dirty="0" smtClean="0"/>
              <a:t>&lt;Insert Module Title&gt;</a:t>
            </a:r>
            <a:endParaRPr lang="en-US" dirty="0"/>
          </a:p>
        </p:txBody>
      </p:sp>
      <p:pic>
        <p:nvPicPr>
          <p:cNvPr id="9" name="Picture 8" descr="C:\Users\D535496\AppData\Local\Temp\PK80FB.tmp\Logo2008_JPMC_C_White.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64089" y="6131706"/>
            <a:ext cx="3538071" cy="32164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bwMode="auto">
          <a:xfrm>
            <a:off x="251520" y="3200413"/>
            <a:ext cx="6877198" cy="45719"/>
          </a:xfrm>
          <a:prstGeom prst="rect">
            <a:avLst/>
          </a:prstGeom>
          <a:solidFill>
            <a:srgbClr val="8D8A17"/>
          </a:solidFill>
          <a:ln w="9525" cap="flat" cmpd="sng" algn="ctr">
            <a:no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0689" y="3397507"/>
            <a:ext cx="2838450" cy="514350"/>
          </a:xfrm>
          <a:prstGeom prst="rect">
            <a:avLst/>
          </a:prstGeom>
        </p:spPr>
      </p:pic>
    </p:spTree>
    <p:extLst>
      <p:ext uri="{BB962C8B-B14F-4D97-AF65-F5344CB8AC3E}">
        <p14:creationId xmlns:p14="http://schemas.microsoft.com/office/powerpoint/2010/main" val="868440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6" name="Rectangle 5"/>
          <p:cNvSpPr/>
          <p:nvPr userDrawn="1"/>
        </p:nvSpPr>
        <p:spPr bwMode="auto">
          <a:xfrm>
            <a:off x="0" y="0"/>
            <a:ext cx="9144000" cy="6858000"/>
          </a:xfrm>
          <a:prstGeom prst="rect">
            <a:avLst/>
          </a:prstGeom>
          <a:solidFill>
            <a:srgbClr val="064067"/>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dirty="0">
              <a:solidFill>
                <a:prstClr val="black"/>
              </a:solidFill>
              <a:latin typeface="Arial" charset="0"/>
            </a:endParaRPr>
          </a:p>
        </p:txBody>
      </p:sp>
      <p:sp>
        <p:nvSpPr>
          <p:cNvPr id="10" name="Text Placeholder 9"/>
          <p:cNvSpPr>
            <a:spLocks noGrp="1"/>
          </p:cNvSpPr>
          <p:nvPr>
            <p:ph type="body" sz="quarter" idx="10" hasCustomPrompt="1"/>
          </p:nvPr>
        </p:nvSpPr>
        <p:spPr>
          <a:xfrm>
            <a:off x="221488" y="2438400"/>
            <a:ext cx="6907230" cy="1298318"/>
          </a:xfrm>
          <a:prstGeom prst="rect">
            <a:avLst/>
          </a:prstGeom>
          <a:ln>
            <a:noFill/>
          </a:ln>
        </p:spPr>
        <p:txBody>
          <a:bodyPr lIns="0" tIns="0" rIns="0" bIns="0" anchor="ctr" anchorCtr="0">
            <a:normAutofit/>
          </a:bodyPr>
          <a:lstStyle>
            <a:lvl1pPr marL="0" indent="0">
              <a:buNone/>
              <a:defRPr sz="3600" baseline="0">
                <a:solidFill>
                  <a:schemeClr val="bg1"/>
                </a:solidFill>
                <a:latin typeface="+mj-lt"/>
              </a:defRPr>
            </a:lvl1pPr>
          </a:lstStyle>
          <a:p>
            <a:pPr lvl="0"/>
            <a:r>
              <a:rPr lang="en-US" dirty="0" smtClean="0"/>
              <a:t>&lt;Section Divider Title&gt;</a:t>
            </a:r>
            <a:endParaRPr lang="en-US" dirty="0"/>
          </a:p>
        </p:txBody>
      </p:sp>
      <p:pic>
        <p:nvPicPr>
          <p:cNvPr id="9" name="Picture 8" descr="C:\Users\D535496\AppData\Local\Temp\PK80FB.tmp\Logo2008_JPMC_C_White.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64089" y="6131706"/>
            <a:ext cx="3538071" cy="32164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userDrawn="1"/>
        </p:nvSpPr>
        <p:spPr bwMode="auto">
          <a:xfrm>
            <a:off x="251520" y="4038611"/>
            <a:ext cx="6877198" cy="45719"/>
          </a:xfrm>
          <a:prstGeom prst="rect">
            <a:avLst/>
          </a:prstGeom>
          <a:solidFill>
            <a:srgbClr val="8D8A17"/>
          </a:solidFill>
          <a:ln w="9525" cap="flat" cmpd="sng" algn="ctr">
            <a:no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Tree>
    <p:extLst>
      <p:ext uri="{BB962C8B-B14F-4D97-AF65-F5344CB8AC3E}">
        <p14:creationId xmlns:p14="http://schemas.microsoft.com/office/powerpoint/2010/main" val="3495900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pace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20" y="457200"/>
            <a:ext cx="8229600" cy="715962"/>
          </a:xfrm>
          <a:prstGeom prst="rect">
            <a:avLst/>
          </a:prstGeom>
        </p:spPr>
        <p:txBody>
          <a:bodyPr lIns="91350" tIns="45675" rIns="91350" bIns="45675"/>
          <a:lstStyle>
            <a:lvl1pPr algn="l">
              <a:defRPr sz="3600">
                <a:solidFill>
                  <a:schemeClr val="bg1"/>
                </a:solidFill>
              </a:defRPr>
            </a:lvl1pPr>
          </a:lstStyle>
          <a:p>
            <a:r>
              <a:rPr lang="en-US" dirty="0" smtClean="0"/>
              <a:t>Slide Title – Blank Space</a:t>
            </a:r>
            <a:endParaRPr lang="en-US" dirty="0"/>
          </a:p>
        </p:txBody>
      </p:sp>
      <p:sp>
        <p:nvSpPr>
          <p:cNvPr id="3" name="Slide Number Placeholder 2"/>
          <p:cNvSpPr>
            <a:spLocks noGrp="1"/>
          </p:cNvSpPr>
          <p:nvPr>
            <p:ph type="sldNum" sz="quarter" idx="10"/>
          </p:nvPr>
        </p:nvSpPr>
        <p:spPr/>
        <p:txBody>
          <a:body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4" name="Content Placeholder 2"/>
          <p:cNvSpPr>
            <a:spLocks noGrp="1"/>
          </p:cNvSpPr>
          <p:nvPr>
            <p:ph idx="1" hasCustomPrompt="1"/>
          </p:nvPr>
        </p:nvSpPr>
        <p:spPr>
          <a:xfrm>
            <a:off x="457200" y="1417650"/>
            <a:ext cx="8229600" cy="4525963"/>
          </a:xfrm>
          <a:prstGeom prst="rect">
            <a:avLst/>
          </a:prstGeom>
        </p:spPr>
        <p:txBody>
          <a:bodyPr lIns="91350" tIns="45675" rIns="91350" bIns="45675"/>
          <a:lstStyle>
            <a:lvl1pPr marL="0" indent="0">
              <a:buNone/>
              <a:defRPr baseline="0"/>
            </a:lvl1pPr>
            <a:lvl2pPr marL="456757" indent="0">
              <a:buNone/>
              <a:defRPr/>
            </a:lvl2pPr>
            <a:lvl3pPr marL="913513" indent="0">
              <a:buNone/>
              <a:defRPr/>
            </a:lvl3pPr>
            <a:lvl4pPr marL="1370268" indent="0">
              <a:buNone/>
              <a:defRPr/>
            </a:lvl4pPr>
            <a:lvl5pPr marL="1827025" indent="0">
              <a:buNone/>
              <a:defRPr/>
            </a:lvl5pPr>
          </a:lstStyle>
          <a:p>
            <a:pPr lvl="0"/>
            <a:r>
              <a:rPr lang="en-US" smtClean="0"/>
              <a:t>Non-bulleted </a:t>
            </a:r>
            <a:r>
              <a:rPr lang="en-US" dirty="0" smtClean="0"/>
              <a:t>text, images only</a:t>
            </a:r>
          </a:p>
          <a:p>
            <a:pPr lvl="0"/>
            <a:r>
              <a:rPr lang="en-US" dirty="0" smtClean="0"/>
              <a:t>Calibri, black  18pt – 24pt</a:t>
            </a:r>
          </a:p>
          <a:p>
            <a:pPr lvl="0"/>
            <a:endParaRPr lang="en-US" dirty="0"/>
          </a:p>
        </p:txBody>
      </p:sp>
    </p:spTree>
    <p:extLst>
      <p:ext uri="{BB962C8B-B14F-4D97-AF65-F5344CB8AC3E}">
        <p14:creationId xmlns:p14="http://schemas.microsoft.com/office/powerpoint/2010/main" val="4180316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20" y="457200"/>
            <a:ext cx="8229600" cy="715962"/>
          </a:xfrm>
          <a:prstGeom prst="rect">
            <a:avLst/>
          </a:prstGeom>
        </p:spPr>
        <p:txBody>
          <a:bodyPr lIns="91350" tIns="45675" rIns="91350" bIns="45675"/>
          <a:lstStyle>
            <a:lvl1pPr algn="l">
              <a:defRPr sz="3600">
                <a:solidFill>
                  <a:schemeClr val="bg1"/>
                </a:solidFill>
              </a:defRPr>
            </a:lvl1pPr>
          </a:lstStyle>
          <a:p>
            <a:r>
              <a:rPr lang="en-US" dirty="0" smtClean="0"/>
              <a:t>Slide Title – Bulleted List</a:t>
            </a:r>
            <a:endParaRPr lang="en-US" dirty="0"/>
          </a:p>
        </p:txBody>
      </p:sp>
      <p:sp>
        <p:nvSpPr>
          <p:cNvPr id="3" name="Slide Number Placeholder 2"/>
          <p:cNvSpPr>
            <a:spLocks noGrp="1"/>
          </p:cNvSpPr>
          <p:nvPr>
            <p:ph type="sldNum" sz="quarter" idx="10"/>
          </p:nvPr>
        </p:nvSpPr>
        <p:spPr/>
        <p:txBody>
          <a:body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5" name="Content Placeholder 2"/>
          <p:cNvSpPr>
            <a:spLocks noGrp="1"/>
          </p:cNvSpPr>
          <p:nvPr>
            <p:ph idx="1" hasCustomPrompt="1"/>
          </p:nvPr>
        </p:nvSpPr>
        <p:spPr>
          <a:xfrm>
            <a:off x="457200" y="1371613"/>
            <a:ext cx="8229600" cy="4525963"/>
          </a:xfrm>
          <a:prstGeom prst="rect">
            <a:avLst/>
          </a:prstGeom>
        </p:spPr>
        <p:txBody>
          <a:bodyPr lIns="91350" tIns="45675" rIns="91350" bIns="45675"/>
          <a:lstStyle>
            <a:lvl1pPr marL="342567" indent="-342567">
              <a:buClr>
                <a:schemeClr val="tx2"/>
              </a:buClr>
              <a:buFont typeface="Wingdings" panose="05000000000000000000" pitchFamily="2" charset="2"/>
              <a:buChar cha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dirty="0" smtClean="0"/>
              <a:t>First level bullet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9140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oR Bulleted Lis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20" y="457200"/>
            <a:ext cx="8229600" cy="715962"/>
          </a:xfrm>
          <a:prstGeom prst="rect">
            <a:avLst/>
          </a:prstGeom>
        </p:spPr>
        <p:txBody>
          <a:bodyPr lIns="91350" tIns="45675" rIns="91350" bIns="45675"/>
          <a:lstStyle>
            <a:lvl1pPr algn="l">
              <a:defRPr sz="3600">
                <a:solidFill>
                  <a:srgbClr val="FFC000"/>
                </a:solidFill>
              </a:defRPr>
            </a:lvl1pPr>
          </a:lstStyle>
          <a:p>
            <a:r>
              <a:rPr lang="en-US" dirty="0" smtClean="0"/>
              <a:t>Slide Title – Bulleted List</a:t>
            </a:r>
            <a:endParaRPr lang="en-US" dirty="0"/>
          </a:p>
        </p:txBody>
      </p:sp>
      <p:sp>
        <p:nvSpPr>
          <p:cNvPr id="3" name="Slide Number Placeholder 2"/>
          <p:cNvSpPr>
            <a:spLocks noGrp="1"/>
          </p:cNvSpPr>
          <p:nvPr>
            <p:ph type="sldNum" sz="quarter" idx="10"/>
          </p:nvPr>
        </p:nvSpPr>
        <p:spPr/>
        <p:txBody>
          <a:body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5" name="Content Placeholder 2"/>
          <p:cNvSpPr>
            <a:spLocks noGrp="1"/>
          </p:cNvSpPr>
          <p:nvPr>
            <p:ph idx="1" hasCustomPrompt="1"/>
          </p:nvPr>
        </p:nvSpPr>
        <p:spPr>
          <a:xfrm>
            <a:off x="457200" y="1371613"/>
            <a:ext cx="8229600" cy="4525963"/>
          </a:xfrm>
          <a:prstGeom prst="rect">
            <a:avLst/>
          </a:prstGeom>
        </p:spPr>
        <p:txBody>
          <a:bodyPr lIns="91350" tIns="45675" rIns="91350" bIns="45675"/>
          <a:lstStyle>
            <a:lvl1pPr marL="342567" indent="-342567">
              <a:buClr>
                <a:schemeClr val="tx2"/>
              </a:buClr>
              <a:buFont typeface="Wingdings" panose="05000000000000000000" pitchFamily="2" charset="2"/>
              <a:buChar char="§"/>
              <a:defRPr/>
            </a:lvl1pPr>
            <a:lvl2pPr>
              <a:buClr>
                <a:schemeClr val="tx2"/>
              </a:buClr>
              <a:defRPr/>
            </a:lvl2pPr>
            <a:lvl3pPr>
              <a:buClr>
                <a:schemeClr val="tx2"/>
              </a:buClr>
              <a:defRPr/>
            </a:lvl3pPr>
            <a:lvl4pPr>
              <a:buClr>
                <a:schemeClr val="tx2"/>
              </a:buClr>
              <a:defRPr/>
            </a:lvl4pPr>
            <a:lvl5pPr>
              <a:buClr>
                <a:schemeClr val="tx2"/>
              </a:buClr>
              <a:defRPr/>
            </a:lvl5pPr>
          </a:lstStyle>
          <a:p>
            <a:pPr lvl="0"/>
            <a:r>
              <a:rPr lang="en-US" dirty="0" smtClean="0"/>
              <a:t>First level bullet</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 name="Content Placeholder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72402" y="104264"/>
            <a:ext cx="778706" cy="866253"/>
          </a:xfrm>
          <a:prstGeom prst="rect">
            <a:avLst/>
          </a:prstGeom>
        </p:spPr>
      </p:pic>
    </p:spTree>
    <p:extLst>
      <p:ext uri="{BB962C8B-B14F-4D97-AF65-F5344CB8AC3E}">
        <p14:creationId xmlns:p14="http://schemas.microsoft.com/office/powerpoint/2010/main" val="451337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0"/>
                                        <p:tgtEl>
                                          <p:spTgt spid="6"/>
                                        </p:tgtEl>
                                      </p:cBhvr>
                                    </p:animEffect>
                                    <p:anim calcmode="lin" valueType="num">
                                      <p:cBhvr>
                                        <p:cTn id="8" dur="4000" fill="hold"/>
                                        <p:tgtEl>
                                          <p:spTgt spid="6"/>
                                        </p:tgtEl>
                                        <p:attrNameLst>
                                          <p:attrName>style.rotation</p:attrName>
                                        </p:attrNameLst>
                                      </p:cBhvr>
                                      <p:tavLst>
                                        <p:tav tm="0">
                                          <p:val>
                                            <p:fltVal val="720"/>
                                          </p:val>
                                        </p:tav>
                                        <p:tav tm="100000">
                                          <p:val>
                                            <p:fltVal val="0"/>
                                          </p:val>
                                        </p:tav>
                                      </p:tavLst>
                                    </p:anim>
                                    <p:anim calcmode="lin" valueType="num">
                                      <p:cBhvr>
                                        <p:cTn id="9" dur="4000" fill="hold"/>
                                        <p:tgtEl>
                                          <p:spTgt spid="6"/>
                                        </p:tgtEl>
                                        <p:attrNameLst>
                                          <p:attrName>ppt_h</p:attrName>
                                        </p:attrNameLst>
                                      </p:cBhvr>
                                      <p:tavLst>
                                        <p:tav tm="0">
                                          <p:val>
                                            <p:fltVal val="0"/>
                                          </p:val>
                                        </p:tav>
                                        <p:tav tm="100000">
                                          <p:val>
                                            <p:strVal val="#ppt_h"/>
                                          </p:val>
                                        </p:tav>
                                      </p:tavLst>
                                    </p:anim>
                                    <p:anim calcmode="lin" valueType="num">
                                      <p:cBhvr>
                                        <p:cTn id="10" dur="4000" fill="hold"/>
                                        <p:tgtEl>
                                          <p:spTgt spid="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de by Side Lis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20" y="457200"/>
            <a:ext cx="8229600" cy="715962"/>
          </a:xfrm>
          <a:prstGeom prst="rect">
            <a:avLst/>
          </a:prstGeom>
        </p:spPr>
        <p:txBody>
          <a:bodyPr lIns="91350" tIns="45675" rIns="91350" bIns="45675"/>
          <a:lstStyle>
            <a:lvl1pPr algn="l">
              <a:defRPr sz="3600" baseline="0">
                <a:solidFill>
                  <a:schemeClr val="bg1"/>
                </a:solidFill>
              </a:defRPr>
            </a:lvl1pPr>
          </a:lstStyle>
          <a:p>
            <a:r>
              <a:rPr lang="en-US" dirty="0" smtClean="0"/>
              <a:t>Slide Title – Side-by-Side Bulleted List</a:t>
            </a:r>
            <a:endParaRPr lang="en-US" dirty="0"/>
          </a:p>
        </p:txBody>
      </p:sp>
      <p:sp>
        <p:nvSpPr>
          <p:cNvPr id="3" name="Slide Number Placeholder 2"/>
          <p:cNvSpPr>
            <a:spLocks noGrp="1"/>
          </p:cNvSpPr>
          <p:nvPr>
            <p:ph type="sldNum" sz="quarter" idx="10"/>
          </p:nvPr>
        </p:nvSpPr>
        <p:spPr/>
        <p:txBody>
          <a:body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6" name="Content Placeholder 2"/>
          <p:cNvSpPr>
            <a:spLocks noGrp="1"/>
          </p:cNvSpPr>
          <p:nvPr>
            <p:ph sz="half" idx="1" hasCustomPrompt="1"/>
          </p:nvPr>
        </p:nvSpPr>
        <p:spPr>
          <a:xfrm>
            <a:off x="457200" y="1371613"/>
            <a:ext cx="4038600" cy="4525963"/>
          </a:xfrm>
          <a:prstGeom prst="rect">
            <a:avLst/>
          </a:prstGeom>
        </p:spPr>
        <p:txBody>
          <a:bodyPr lIns="91350" tIns="45675" rIns="91350" bIns="45675"/>
          <a:lstStyle>
            <a:lvl1pPr>
              <a:buClr>
                <a:schemeClr val="tx2"/>
              </a:buClr>
              <a:defRPr sz="2400" baseline="0"/>
            </a:lvl1pPr>
            <a:lvl2pPr>
              <a:buClr>
                <a:schemeClr val="tx2"/>
              </a:buClr>
              <a:defRPr sz="2200"/>
            </a:lvl2pPr>
            <a:lvl3pPr>
              <a:buClr>
                <a:schemeClr val="tx2"/>
              </a:buClr>
              <a:defRPr sz="2000"/>
            </a:lvl3pPr>
            <a:lvl4pPr>
              <a:buClr>
                <a:schemeClr val="tx2"/>
              </a:buClr>
              <a:defRPr sz="1800"/>
            </a:lvl4pPr>
            <a:lvl5pPr>
              <a:buClr>
                <a:schemeClr val="tx2"/>
              </a:buClr>
              <a:defRPr sz="1800"/>
            </a:lvl5pPr>
            <a:lvl6pPr>
              <a:defRPr sz="1800"/>
            </a:lvl6pPr>
            <a:lvl7pPr>
              <a:defRPr sz="1800"/>
            </a:lvl7pPr>
            <a:lvl8pPr>
              <a:defRPr sz="1800"/>
            </a:lvl8pPr>
            <a:lvl9pPr>
              <a:defRPr sz="1800"/>
            </a:lvl9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3"/>
          <p:cNvSpPr>
            <a:spLocks noGrp="1"/>
          </p:cNvSpPr>
          <p:nvPr>
            <p:ph sz="half" idx="2" hasCustomPrompt="1"/>
          </p:nvPr>
        </p:nvSpPr>
        <p:spPr>
          <a:xfrm>
            <a:off x="4648200" y="1371613"/>
            <a:ext cx="4038600" cy="4525963"/>
          </a:xfrm>
          <a:prstGeom prst="rect">
            <a:avLst/>
          </a:prstGeom>
        </p:spPr>
        <p:txBody>
          <a:bodyPr lIns="91350" tIns="45675" rIns="91350" bIns="45675"/>
          <a:lstStyle>
            <a:lvl1pPr>
              <a:buClr>
                <a:schemeClr val="tx2"/>
              </a:buClr>
              <a:defRPr sz="2400"/>
            </a:lvl1pPr>
            <a:lvl2pPr>
              <a:buClr>
                <a:schemeClr val="tx2"/>
              </a:buClr>
              <a:defRPr sz="2200"/>
            </a:lvl2pPr>
            <a:lvl3pPr>
              <a:buClr>
                <a:schemeClr val="tx2"/>
              </a:buClr>
              <a:defRPr sz="2000"/>
            </a:lvl3pPr>
            <a:lvl4pPr>
              <a:buClr>
                <a:schemeClr val="tx2"/>
              </a:buClr>
              <a:defRPr sz="1800"/>
            </a:lvl4pPr>
            <a:lvl5pPr>
              <a:buClr>
                <a:schemeClr val="tx2"/>
              </a:buClr>
              <a:defRPr sz="1800"/>
            </a:lvl5pPr>
            <a:lvl6pPr>
              <a:defRPr sz="1800"/>
            </a:lvl6pPr>
            <a:lvl7pPr>
              <a:defRPr sz="1800"/>
            </a:lvl7pPr>
            <a:lvl8pPr>
              <a:defRPr sz="1800"/>
            </a:lvl8pPr>
            <a:lvl9pPr>
              <a:defRPr sz="1800"/>
            </a:lvl9pPr>
          </a:lstStyle>
          <a:p>
            <a:pPr lvl="0"/>
            <a:r>
              <a:rPr lang="en-US" dirty="0" smtClean="0"/>
              <a:t>First level</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222108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bjectives">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a:prstGeom prst="rect">
            <a:avLst/>
          </a:prstGeom>
        </p:spPr>
        <p:txBody>
          <a:bodyPr lIns="91350" tIns="45675" rIns="91350" bIns="45675"/>
          <a:lstStyle>
            <a:lvl1pPr>
              <a:defRPr>
                <a:latin typeface="Calibri" pitchFamily="34" charset="0"/>
              </a:defRPr>
            </a:lvl1pPr>
          </a:lstStyle>
          <a:p>
            <a:r>
              <a:rPr lang="en-US" smtClean="0"/>
              <a:t>Click to edit Master title style</a:t>
            </a:r>
            <a:endParaRPr lang="en-US" dirty="0"/>
          </a:p>
        </p:txBody>
      </p:sp>
      <p:sp>
        <p:nvSpPr>
          <p:cNvPr id="3" name="Rectangle 2"/>
          <p:cNvSpPr/>
          <p:nvPr userDrawn="1"/>
        </p:nvSpPr>
        <p:spPr bwMode="auto">
          <a:xfrm>
            <a:off x="-7314" y="13"/>
            <a:ext cx="9151315" cy="1084635"/>
          </a:xfrm>
          <a:prstGeom prst="rect">
            <a:avLst/>
          </a:prstGeom>
          <a:solidFill>
            <a:srgbClr val="0A4579"/>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
        <p:nvSpPr>
          <p:cNvPr id="4" name="Rectangle 3"/>
          <p:cNvSpPr/>
          <p:nvPr userDrawn="1"/>
        </p:nvSpPr>
        <p:spPr bwMode="auto">
          <a:xfrm>
            <a:off x="-7314" y="1084637"/>
            <a:ext cx="9151315" cy="93274"/>
          </a:xfrm>
          <a:prstGeom prst="rect">
            <a:avLst/>
          </a:prstGeom>
          <a:solidFill>
            <a:srgbClr val="8C891F"/>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
        <p:nvSpPr>
          <p:cNvPr id="9" name="Title 1"/>
          <p:cNvSpPr txBox="1">
            <a:spLocks/>
          </p:cNvSpPr>
          <p:nvPr userDrawn="1"/>
        </p:nvSpPr>
        <p:spPr>
          <a:xfrm>
            <a:off x="304800" y="164592"/>
            <a:ext cx="8229600" cy="1143000"/>
          </a:xfrm>
          <a:prstGeom prst="rect">
            <a:avLst/>
          </a:prstGeom>
        </p:spPr>
        <p:txBody>
          <a:bodyPr vert="horz" lIns="91350" tIns="45675" rIns="91350" bIns="45675"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solidFill>
                  <a:prstClr val="white"/>
                </a:solidFill>
              </a:rPr>
              <a:t>Objectives</a:t>
            </a:r>
            <a:endParaRPr lang="en-US" sz="3600" dirty="0">
              <a:solidFill>
                <a:prstClr val="white"/>
              </a:solidFill>
            </a:endParaRPr>
          </a:p>
        </p:txBody>
      </p:sp>
      <p:sp>
        <p:nvSpPr>
          <p:cNvPr id="7" name="Slide Number Placeholder 5"/>
          <p:cNvSpPr>
            <a:spLocks noGrp="1"/>
          </p:cNvSpPr>
          <p:nvPr>
            <p:ph type="sldNum" sz="quarter" idx="4"/>
          </p:nvPr>
        </p:nvSpPr>
        <p:spPr>
          <a:xfrm>
            <a:off x="3501541" y="6364413"/>
            <a:ext cx="2133600" cy="365125"/>
          </a:xfrm>
          <a:prstGeom prst="rect">
            <a:avLst/>
          </a:prstGeom>
        </p:spPr>
        <p:txBody>
          <a:bodyPr vert="horz" lIns="91350" tIns="45675" rIns="91350" bIns="45675" rtlCol="0" anchor="ctr"/>
          <a:lstStyle>
            <a:lvl1pPr algn="ctr">
              <a:defRPr sz="1200">
                <a:solidFill>
                  <a:schemeClr val="tx1">
                    <a:tint val="75000"/>
                  </a:schemeClr>
                </a:solidFill>
              </a:defRPr>
            </a:lvl1p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19" name="Content Placeholder 2"/>
          <p:cNvSpPr>
            <a:spLocks noGrp="1"/>
          </p:cNvSpPr>
          <p:nvPr>
            <p:ph idx="1" hasCustomPrompt="1"/>
          </p:nvPr>
        </p:nvSpPr>
        <p:spPr>
          <a:xfrm>
            <a:off x="457200" y="1371601"/>
            <a:ext cx="3429000" cy="457200"/>
          </a:xfrm>
          <a:prstGeom prst="rect">
            <a:avLst/>
          </a:prstGeom>
        </p:spPr>
        <p:txBody>
          <a:bodyPr lIns="91350" tIns="45675" rIns="91350" bIns="45675"/>
          <a:lstStyle>
            <a:lvl1pPr marL="0" indent="0">
              <a:buFont typeface="Wingdings" panose="05000000000000000000" pitchFamily="2" charset="2"/>
              <a:buNone/>
              <a:defRPr baseline="0"/>
            </a:lvl1pPr>
          </a:lstStyle>
          <a:p>
            <a:pPr lvl="0"/>
            <a:r>
              <a:rPr lang="en-US" dirty="0" smtClean="0"/>
              <a:t>You will be able to: </a:t>
            </a:r>
          </a:p>
        </p:txBody>
      </p:sp>
      <p:sp>
        <p:nvSpPr>
          <p:cNvPr id="20" name="Content Placeholder 2"/>
          <p:cNvSpPr>
            <a:spLocks noGrp="1"/>
          </p:cNvSpPr>
          <p:nvPr>
            <p:ph idx="10" hasCustomPrompt="1"/>
          </p:nvPr>
        </p:nvSpPr>
        <p:spPr>
          <a:xfrm>
            <a:off x="453541" y="1905011"/>
            <a:ext cx="8229600" cy="4525963"/>
          </a:xfrm>
          <a:prstGeom prst="rect">
            <a:avLst/>
          </a:prstGeom>
        </p:spPr>
        <p:txBody>
          <a:bodyPr lIns="91350" tIns="45675" rIns="91350" bIns="45675"/>
          <a:lstStyle>
            <a:lvl1pPr marL="342567" indent="-342567">
              <a:buClr>
                <a:schemeClr val="tx2"/>
              </a:buClr>
              <a:buFont typeface="Wingdings" panose="05000000000000000000" pitchFamily="2" charset="2"/>
              <a:buChar char="§"/>
              <a:defRPr baseline="0"/>
            </a:lvl1pPr>
          </a:lstStyle>
          <a:p>
            <a:pPr lvl="0"/>
            <a:r>
              <a:rPr lang="en-US" dirty="0" smtClean="0"/>
              <a:t>Learning objective/outcome</a:t>
            </a:r>
          </a:p>
          <a:p>
            <a:pPr lvl="0"/>
            <a:r>
              <a:rPr lang="en-US" dirty="0" smtClean="0"/>
              <a:t>Learning objective/outcome</a:t>
            </a:r>
          </a:p>
          <a:p>
            <a:pPr lvl="0"/>
            <a:r>
              <a:rPr lang="en-US" dirty="0" smtClean="0"/>
              <a:t>Learning objective/outcome</a:t>
            </a:r>
          </a:p>
        </p:txBody>
      </p:sp>
      <p:sp>
        <p:nvSpPr>
          <p:cNvPr id="10" name="Content Placeholder 2"/>
          <p:cNvSpPr>
            <a:spLocks noGrp="1"/>
          </p:cNvSpPr>
          <p:nvPr>
            <p:ph idx="11" hasCustomPrompt="1"/>
          </p:nvPr>
        </p:nvSpPr>
        <p:spPr>
          <a:xfrm>
            <a:off x="7162800" y="1371600"/>
            <a:ext cx="1600200" cy="457200"/>
          </a:xfrm>
          <a:prstGeom prst="rect">
            <a:avLst/>
          </a:prstGeom>
        </p:spPr>
        <p:txBody>
          <a:bodyPr lIns="91350" tIns="45675" rIns="91350" bIns="45675"/>
          <a:lstStyle>
            <a:lvl1pPr marL="0" indent="0">
              <a:buFont typeface="Wingdings" panose="05000000000000000000" pitchFamily="2" charset="2"/>
              <a:buNone/>
              <a:defRPr sz="2000" baseline="0"/>
            </a:lvl1pPr>
          </a:lstStyle>
          <a:p>
            <a:pPr lvl="0"/>
            <a:r>
              <a:rPr lang="en-US" dirty="0" smtClean="0"/>
              <a:t>Insert Themes icon(s)</a:t>
            </a:r>
          </a:p>
        </p:txBody>
      </p:sp>
    </p:spTree>
    <p:extLst>
      <p:ext uri="{BB962C8B-B14F-4D97-AF65-F5344CB8AC3E}">
        <p14:creationId xmlns:p14="http://schemas.microsoft.com/office/powerpoint/2010/main" val="3500581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a:prstGeom prst="rect">
            <a:avLst/>
          </a:prstGeom>
        </p:spPr>
        <p:txBody>
          <a:bodyPr lIns="91350" tIns="45675" rIns="91350" bIns="45675"/>
          <a:lstStyle>
            <a:lvl1pPr>
              <a:defRPr>
                <a:latin typeface="Calibri" pitchFamily="34" charset="0"/>
              </a:defRPr>
            </a:lvl1pPr>
          </a:lstStyle>
          <a:p>
            <a:r>
              <a:rPr lang="en-US" smtClean="0"/>
              <a:t>Click to edit Master title style</a:t>
            </a:r>
            <a:endParaRPr lang="en-US" dirty="0"/>
          </a:p>
        </p:txBody>
      </p:sp>
      <p:sp>
        <p:nvSpPr>
          <p:cNvPr id="3" name="Rectangle 2"/>
          <p:cNvSpPr/>
          <p:nvPr userDrawn="1"/>
        </p:nvSpPr>
        <p:spPr bwMode="auto">
          <a:xfrm>
            <a:off x="-7314" y="13"/>
            <a:ext cx="9151315" cy="1084635"/>
          </a:xfrm>
          <a:prstGeom prst="rect">
            <a:avLst/>
          </a:prstGeom>
          <a:solidFill>
            <a:srgbClr val="0A4579"/>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
        <p:nvSpPr>
          <p:cNvPr id="4" name="Rectangle 3"/>
          <p:cNvSpPr/>
          <p:nvPr userDrawn="1"/>
        </p:nvSpPr>
        <p:spPr bwMode="auto">
          <a:xfrm>
            <a:off x="-7314" y="1084637"/>
            <a:ext cx="9151315" cy="93274"/>
          </a:xfrm>
          <a:prstGeom prst="rect">
            <a:avLst/>
          </a:prstGeom>
          <a:solidFill>
            <a:srgbClr val="8C891F"/>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
        <p:nvSpPr>
          <p:cNvPr id="9" name="Title 1"/>
          <p:cNvSpPr txBox="1">
            <a:spLocks/>
          </p:cNvSpPr>
          <p:nvPr userDrawn="1"/>
        </p:nvSpPr>
        <p:spPr>
          <a:xfrm>
            <a:off x="304800" y="152400"/>
            <a:ext cx="8229600" cy="1143000"/>
          </a:xfrm>
          <a:prstGeom prst="rect">
            <a:avLst/>
          </a:prstGeom>
        </p:spPr>
        <p:txBody>
          <a:bodyPr vert="horz" lIns="91350" tIns="45675" rIns="91350" bIns="45675"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solidFill>
                  <a:prstClr val="white"/>
                </a:solidFill>
              </a:rPr>
              <a:t>Agenda</a:t>
            </a:r>
            <a:endParaRPr lang="en-US" sz="3600" dirty="0">
              <a:solidFill>
                <a:prstClr val="white"/>
              </a:solidFill>
            </a:endParaRPr>
          </a:p>
        </p:txBody>
      </p:sp>
      <p:sp>
        <p:nvSpPr>
          <p:cNvPr id="7" name="Slide Number Placeholder 5"/>
          <p:cNvSpPr>
            <a:spLocks noGrp="1"/>
          </p:cNvSpPr>
          <p:nvPr>
            <p:ph type="sldNum" sz="quarter" idx="4"/>
          </p:nvPr>
        </p:nvSpPr>
        <p:spPr>
          <a:xfrm>
            <a:off x="3501541" y="6364413"/>
            <a:ext cx="2133600" cy="365125"/>
          </a:xfrm>
          <a:prstGeom prst="rect">
            <a:avLst/>
          </a:prstGeom>
        </p:spPr>
        <p:txBody>
          <a:bodyPr vert="horz" lIns="91350" tIns="45675" rIns="91350" bIns="45675" rtlCol="0" anchor="ctr"/>
          <a:lstStyle>
            <a:lvl1pPr algn="ctr">
              <a:defRPr sz="1200">
                <a:solidFill>
                  <a:schemeClr val="tx1">
                    <a:tint val="75000"/>
                  </a:schemeClr>
                </a:solidFill>
              </a:defRPr>
            </a:lvl1p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19" name="Content Placeholder 2"/>
          <p:cNvSpPr>
            <a:spLocks noGrp="1"/>
          </p:cNvSpPr>
          <p:nvPr>
            <p:ph idx="1" hasCustomPrompt="1"/>
          </p:nvPr>
        </p:nvSpPr>
        <p:spPr>
          <a:xfrm>
            <a:off x="457200" y="1417650"/>
            <a:ext cx="8229600" cy="411163"/>
          </a:xfrm>
          <a:prstGeom prst="rect">
            <a:avLst/>
          </a:prstGeom>
          <a:solidFill>
            <a:schemeClr val="bg1">
              <a:lumMod val="95000"/>
            </a:schemeClr>
          </a:solidFill>
        </p:spPr>
        <p:txBody>
          <a:bodyPr lIns="91350" tIns="45675" rIns="91350" bIns="45675"/>
          <a:lstStyle>
            <a:lvl1pPr marL="0" indent="0">
              <a:buNone/>
              <a:defRPr sz="2200" baseline="0"/>
            </a:lvl1pPr>
            <a:lvl2pPr marL="456757" indent="0">
              <a:buNone/>
              <a:defRPr/>
            </a:lvl2pPr>
            <a:lvl3pPr marL="913513" indent="0">
              <a:buNone/>
              <a:defRPr/>
            </a:lvl3pPr>
            <a:lvl4pPr marL="1370268" indent="0">
              <a:buNone/>
              <a:defRPr/>
            </a:lvl4pPr>
            <a:lvl5pPr marL="1827025" indent="0">
              <a:buNone/>
              <a:defRPr/>
            </a:lvl5pPr>
          </a:lstStyle>
          <a:p>
            <a:pPr lvl="0"/>
            <a:r>
              <a:rPr lang="en-US" dirty="0" smtClean="0"/>
              <a:t>Topic 1</a:t>
            </a:r>
          </a:p>
        </p:txBody>
      </p:sp>
      <p:sp>
        <p:nvSpPr>
          <p:cNvPr id="20" name="Content Placeholder 2"/>
          <p:cNvSpPr>
            <a:spLocks noGrp="1"/>
          </p:cNvSpPr>
          <p:nvPr>
            <p:ph idx="11" hasCustomPrompt="1"/>
          </p:nvPr>
        </p:nvSpPr>
        <p:spPr>
          <a:xfrm>
            <a:off x="457200" y="1981213"/>
            <a:ext cx="8229600" cy="411163"/>
          </a:xfrm>
          <a:prstGeom prst="rect">
            <a:avLst/>
          </a:prstGeom>
          <a:solidFill>
            <a:schemeClr val="bg1">
              <a:lumMod val="95000"/>
            </a:schemeClr>
          </a:solidFill>
        </p:spPr>
        <p:txBody>
          <a:bodyPr lIns="91350" tIns="45675" rIns="91350" bIns="45675"/>
          <a:lstStyle>
            <a:lvl1pPr marL="0" indent="0">
              <a:buNone/>
              <a:defRPr sz="2200" baseline="0"/>
            </a:lvl1pPr>
            <a:lvl2pPr marL="456757" indent="0">
              <a:buNone/>
              <a:defRPr/>
            </a:lvl2pPr>
            <a:lvl3pPr marL="913513" indent="0">
              <a:buNone/>
              <a:defRPr/>
            </a:lvl3pPr>
            <a:lvl4pPr marL="1370268" indent="0">
              <a:buNone/>
              <a:defRPr/>
            </a:lvl4pPr>
            <a:lvl5pPr marL="1827025" indent="0">
              <a:buNone/>
              <a:defRPr/>
            </a:lvl5pPr>
          </a:lstStyle>
          <a:p>
            <a:pPr lvl="0"/>
            <a:r>
              <a:rPr lang="en-US" dirty="0" smtClean="0"/>
              <a:t>Topic 2</a:t>
            </a:r>
          </a:p>
        </p:txBody>
      </p:sp>
      <p:sp>
        <p:nvSpPr>
          <p:cNvPr id="21" name="Content Placeholder 2"/>
          <p:cNvSpPr>
            <a:spLocks noGrp="1"/>
          </p:cNvSpPr>
          <p:nvPr>
            <p:ph idx="12" hasCustomPrompt="1"/>
          </p:nvPr>
        </p:nvSpPr>
        <p:spPr>
          <a:xfrm>
            <a:off x="457200" y="2590813"/>
            <a:ext cx="8229600" cy="411163"/>
          </a:xfrm>
          <a:prstGeom prst="rect">
            <a:avLst/>
          </a:prstGeom>
          <a:solidFill>
            <a:schemeClr val="bg1">
              <a:lumMod val="95000"/>
            </a:schemeClr>
          </a:solidFill>
        </p:spPr>
        <p:txBody>
          <a:bodyPr lIns="91350" tIns="45675" rIns="91350" bIns="45675"/>
          <a:lstStyle>
            <a:lvl1pPr marL="0" indent="0">
              <a:buNone/>
              <a:defRPr sz="2200" baseline="0"/>
            </a:lvl1pPr>
            <a:lvl2pPr marL="456757" indent="0">
              <a:buNone/>
              <a:defRPr/>
            </a:lvl2pPr>
            <a:lvl3pPr marL="913513" indent="0">
              <a:buNone/>
              <a:defRPr/>
            </a:lvl3pPr>
            <a:lvl4pPr marL="1370268" indent="0">
              <a:buNone/>
              <a:defRPr/>
            </a:lvl4pPr>
            <a:lvl5pPr marL="1827025" indent="0">
              <a:buNone/>
              <a:defRPr/>
            </a:lvl5pPr>
          </a:lstStyle>
          <a:p>
            <a:pPr lvl="0"/>
            <a:r>
              <a:rPr lang="en-US" dirty="0" smtClean="0"/>
              <a:t>Topic 3</a:t>
            </a:r>
          </a:p>
        </p:txBody>
      </p:sp>
      <p:sp>
        <p:nvSpPr>
          <p:cNvPr id="22" name="Content Placeholder 2"/>
          <p:cNvSpPr>
            <a:spLocks noGrp="1"/>
          </p:cNvSpPr>
          <p:nvPr>
            <p:ph idx="13" hasCustomPrompt="1"/>
          </p:nvPr>
        </p:nvSpPr>
        <p:spPr>
          <a:xfrm>
            <a:off x="457200" y="3170250"/>
            <a:ext cx="8229600" cy="411163"/>
          </a:xfrm>
          <a:prstGeom prst="rect">
            <a:avLst/>
          </a:prstGeom>
          <a:solidFill>
            <a:schemeClr val="bg1">
              <a:lumMod val="95000"/>
            </a:schemeClr>
          </a:solidFill>
        </p:spPr>
        <p:txBody>
          <a:bodyPr lIns="91350" tIns="45675" rIns="91350" bIns="45675"/>
          <a:lstStyle>
            <a:lvl1pPr marL="0" indent="0">
              <a:buNone/>
              <a:defRPr sz="2200" baseline="0"/>
            </a:lvl1pPr>
            <a:lvl2pPr marL="456757" indent="0">
              <a:buNone/>
              <a:defRPr/>
            </a:lvl2pPr>
            <a:lvl3pPr marL="913513" indent="0">
              <a:buNone/>
              <a:defRPr/>
            </a:lvl3pPr>
            <a:lvl4pPr marL="1370268" indent="0">
              <a:buNone/>
              <a:defRPr/>
            </a:lvl4pPr>
            <a:lvl5pPr marL="1827025" indent="0">
              <a:buNone/>
              <a:defRPr/>
            </a:lvl5pPr>
          </a:lstStyle>
          <a:p>
            <a:pPr lvl="0"/>
            <a:r>
              <a:rPr lang="en-US" dirty="0" smtClean="0"/>
              <a:t>Topic 4</a:t>
            </a:r>
          </a:p>
        </p:txBody>
      </p:sp>
      <p:sp>
        <p:nvSpPr>
          <p:cNvPr id="23" name="Content Placeholder 2"/>
          <p:cNvSpPr>
            <a:spLocks noGrp="1"/>
          </p:cNvSpPr>
          <p:nvPr>
            <p:ph idx="14" hasCustomPrompt="1"/>
          </p:nvPr>
        </p:nvSpPr>
        <p:spPr>
          <a:xfrm>
            <a:off x="457200" y="3733811"/>
            <a:ext cx="8229600" cy="411163"/>
          </a:xfrm>
          <a:prstGeom prst="rect">
            <a:avLst/>
          </a:prstGeom>
          <a:solidFill>
            <a:schemeClr val="bg1">
              <a:lumMod val="95000"/>
            </a:schemeClr>
          </a:solidFill>
        </p:spPr>
        <p:txBody>
          <a:bodyPr lIns="91350" tIns="45675" rIns="91350" bIns="45675"/>
          <a:lstStyle>
            <a:lvl1pPr marL="0" indent="0">
              <a:buNone/>
              <a:defRPr sz="2200" baseline="0"/>
            </a:lvl1pPr>
            <a:lvl2pPr marL="456757" indent="0">
              <a:buNone/>
              <a:defRPr/>
            </a:lvl2pPr>
            <a:lvl3pPr marL="913513" indent="0">
              <a:buNone/>
              <a:defRPr/>
            </a:lvl3pPr>
            <a:lvl4pPr marL="1370268" indent="0">
              <a:buNone/>
              <a:defRPr/>
            </a:lvl4pPr>
            <a:lvl5pPr marL="1827025" indent="0">
              <a:buNone/>
              <a:defRPr/>
            </a:lvl5pPr>
          </a:lstStyle>
          <a:p>
            <a:pPr lvl="0"/>
            <a:r>
              <a:rPr lang="en-US" dirty="0" smtClean="0"/>
              <a:t>Topic 5</a:t>
            </a:r>
          </a:p>
        </p:txBody>
      </p:sp>
    </p:spTree>
    <p:extLst>
      <p:ext uri="{BB962C8B-B14F-4D97-AF65-F5344CB8AC3E}">
        <p14:creationId xmlns:p14="http://schemas.microsoft.com/office/powerpoint/2010/main" val="3947879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ctivity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320" y="457200"/>
            <a:ext cx="8229600" cy="715962"/>
          </a:xfrm>
          <a:prstGeom prst="rect">
            <a:avLst/>
          </a:prstGeom>
        </p:spPr>
        <p:txBody>
          <a:bodyPr lIns="91350" tIns="45675" rIns="91350" bIns="45675"/>
          <a:lstStyle>
            <a:lvl1pPr algn="l">
              <a:defRPr sz="3600">
                <a:solidFill>
                  <a:schemeClr val="bg1"/>
                </a:solidFill>
              </a:defRPr>
            </a:lvl1pPr>
          </a:lstStyle>
          <a:p>
            <a:r>
              <a:rPr lang="en-US" dirty="0" smtClean="0"/>
              <a:t>Activity:  Activity Name</a:t>
            </a:r>
            <a:endParaRPr lang="en-US" dirty="0"/>
          </a:p>
        </p:txBody>
      </p:sp>
      <p:sp>
        <p:nvSpPr>
          <p:cNvPr id="3" name="Slide Number Placeholder 2"/>
          <p:cNvSpPr>
            <a:spLocks noGrp="1"/>
          </p:cNvSpPr>
          <p:nvPr>
            <p:ph type="sldNum" sz="quarter" idx="10"/>
          </p:nvPr>
        </p:nvSpPr>
        <p:spPr>
          <a:xfrm>
            <a:off x="3505201" y="6248404"/>
            <a:ext cx="2133600" cy="365125"/>
          </a:xfrm>
        </p:spPr>
        <p:txBody>
          <a:body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86839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ummar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a:prstGeom prst="rect">
            <a:avLst/>
          </a:prstGeom>
        </p:spPr>
        <p:txBody>
          <a:bodyPr lIns="91350" tIns="45675" rIns="91350" bIns="45675"/>
          <a:lstStyle>
            <a:lvl1pPr>
              <a:defRPr>
                <a:latin typeface="Calibri" pitchFamily="34" charset="0"/>
              </a:defRPr>
            </a:lvl1pPr>
          </a:lstStyle>
          <a:p>
            <a:r>
              <a:rPr lang="en-US" smtClean="0"/>
              <a:t>Click to edit Master title style</a:t>
            </a:r>
            <a:endParaRPr lang="en-US" dirty="0"/>
          </a:p>
        </p:txBody>
      </p:sp>
      <p:sp>
        <p:nvSpPr>
          <p:cNvPr id="3" name="Rectangle 2"/>
          <p:cNvSpPr/>
          <p:nvPr userDrawn="1"/>
        </p:nvSpPr>
        <p:spPr bwMode="auto">
          <a:xfrm>
            <a:off x="-7314" y="13"/>
            <a:ext cx="9151315" cy="1084635"/>
          </a:xfrm>
          <a:prstGeom prst="rect">
            <a:avLst/>
          </a:prstGeom>
          <a:solidFill>
            <a:srgbClr val="0A4579"/>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
        <p:nvSpPr>
          <p:cNvPr id="4" name="Rectangle 3"/>
          <p:cNvSpPr/>
          <p:nvPr userDrawn="1"/>
        </p:nvSpPr>
        <p:spPr bwMode="auto">
          <a:xfrm>
            <a:off x="-7314" y="1084637"/>
            <a:ext cx="9151315" cy="93274"/>
          </a:xfrm>
          <a:prstGeom prst="rect">
            <a:avLst/>
          </a:prstGeom>
          <a:solidFill>
            <a:srgbClr val="8C891F"/>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
        <p:nvSpPr>
          <p:cNvPr id="9" name="Title 1"/>
          <p:cNvSpPr txBox="1">
            <a:spLocks/>
          </p:cNvSpPr>
          <p:nvPr userDrawn="1"/>
        </p:nvSpPr>
        <p:spPr>
          <a:xfrm>
            <a:off x="304800" y="152400"/>
            <a:ext cx="8229600" cy="1143000"/>
          </a:xfrm>
          <a:prstGeom prst="rect">
            <a:avLst/>
          </a:prstGeom>
        </p:spPr>
        <p:txBody>
          <a:bodyPr vert="horz" lIns="91350" tIns="45675" rIns="91350" bIns="45675"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600" dirty="0" smtClean="0">
                <a:solidFill>
                  <a:prstClr val="white"/>
                </a:solidFill>
              </a:rPr>
              <a:t>Summary</a:t>
            </a:r>
            <a:endParaRPr lang="en-US" sz="3600" dirty="0">
              <a:solidFill>
                <a:prstClr val="white"/>
              </a:solidFill>
            </a:endParaRPr>
          </a:p>
        </p:txBody>
      </p:sp>
      <p:sp>
        <p:nvSpPr>
          <p:cNvPr id="7" name="Slide Number Placeholder 5"/>
          <p:cNvSpPr>
            <a:spLocks noGrp="1"/>
          </p:cNvSpPr>
          <p:nvPr>
            <p:ph type="sldNum" sz="quarter" idx="4"/>
          </p:nvPr>
        </p:nvSpPr>
        <p:spPr>
          <a:xfrm>
            <a:off x="3501541" y="6364413"/>
            <a:ext cx="2133600" cy="365125"/>
          </a:xfrm>
          <a:prstGeom prst="rect">
            <a:avLst/>
          </a:prstGeom>
        </p:spPr>
        <p:txBody>
          <a:bodyPr vert="horz" lIns="91350" tIns="45675" rIns="91350" bIns="45675" rtlCol="0" anchor="ctr"/>
          <a:lstStyle>
            <a:lvl1pPr algn="ctr">
              <a:defRPr sz="1200">
                <a:solidFill>
                  <a:schemeClr val="tx1">
                    <a:tint val="75000"/>
                  </a:schemeClr>
                </a:solidFill>
              </a:defRPr>
            </a:lvl1p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20" name="Content Placeholder 2"/>
          <p:cNvSpPr>
            <a:spLocks noGrp="1"/>
          </p:cNvSpPr>
          <p:nvPr>
            <p:ph idx="10" hasCustomPrompt="1"/>
          </p:nvPr>
        </p:nvSpPr>
        <p:spPr>
          <a:xfrm>
            <a:off x="453541" y="1371613"/>
            <a:ext cx="8229600" cy="4525963"/>
          </a:xfrm>
          <a:prstGeom prst="rect">
            <a:avLst/>
          </a:prstGeom>
        </p:spPr>
        <p:txBody>
          <a:bodyPr lIns="91350" tIns="45675" rIns="91350" bIns="45675"/>
          <a:lstStyle>
            <a:lvl1pPr marL="342567" indent="-342567">
              <a:buFont typeface="Wingdings" panose="05000000000000000000" pitchFamily="2" charset="2"/>
              <a:buChar char="§"/>
              <a:defRPr baseline="0"/>
            </a:lvl1pPr>
          </a:lstStyle>
          <a:p>
            <a:pPr lvl="0"/>
            <a:r>
              <a:rPr lang="en-US" dirty="0" smtClean="0"/>
              <a:t>Summary point</a:t>
            </a:r>
          </a:p>
          <a:p>
            <a:pPr lvl="0"/>
            <a:r>
              <a:rPr lang="en-US" dirty="0" smtClean="0"/>
              <a:t>Takeaways</a:t>
            </a:r>
          </a:p>
        </p:txBody>
      </p:sp>
    </p:spTree>
    <p:extLst>
      <p:ext uri="{BB962C8B-B14F-4D97-AF65-F5344CB8AC3E}">
        <p14:creationId xmlns:p14="http://schemas.microsoft.com/office/powerpoint/2010/main" val="544769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Standard">
    <p:spTree>
      <p:nvGrpSpPr>
        <p:cNvPr id="1" name=""/>
        <p:cNvGrpSpPr/>
        <p:nvPr/>
      </p:nvGrpSpPr>
      <p:grpSpPr>
        <a:xfrm>
          <a:off x="0" y="0"/>
          <a:ext cx="0" cy="0"/>
          <a:chOff x="0" y="0"/>
          <a:chExt cx="0" cy="0"/>
        </a:xfrm>
      </p:grpSpPr>
      <p:sp>
        <p:nvSpPr>
          <p:cNvPr id="4" name="Text Placeholder 2"/>
          <p:cNvSpPr>
            <a:spLocks noGrp="1"/>
          </p:cNvSpPr>
          <p:nvPr>
            <p:ph idx="1" hasCustomPrompt="1"/>
          </p:nvPr>
        </p:nvSpPr>
        <p:spPr>
          <a:xfrm>
            <a:off x="457200" y="1143000"/>
            <a:ext cx="8229600" cy="5181600"/>
          </a:xfrm>
          <a:prstGeom prst="rect">
            <a:avLst/>
          </a:prstGeom>
        </p:spPr>
        <p:txBody>
          <a:bodyPr vert="horz" lIns="91350" tIns="0" rIns="91350" bIns="0" rtlCol="0">
            <a:noAutofit/>
          </a:bodyPr>
          <a:lstStyle>
            <a:lvl1pPr>
              <a:buNone/>
              <a:defRPr sz="2800" b="1"/>
            </a:lvl1pPr>
            <a:lvl2pPr marL="456757">
              <a:buSzPct val="75000"/>
              <a:buFont typeface="Wingdings" pitchFamily="2" charset="2"/>
              <a:buChar char="§"/>
              <a:defRPr sz="2400"/>
            </a:lvl2pPr>
            <a:lvl3pPr marL="730809">
              <a:buClr>
                <a:schemeClr val="tx1">
                  <a:lumMod val="75000"/>
                  <a:lumOff val="25000"/>
                </a:schemeClr>
              </a:buClr>
              <a:buSzPct val="75000"/>
              <a:buFont typeface="Wingdings" pitchFamily="2" charset="2"/>
              <a:buChar char="§"/>
              <a:defRPr sz="2000"/>
            </a:lvl3pPr>
            <a:lvl4pPr>
              <a:buFont typeface="Wingdings" pitchFamily="2" charset="2"/>
              <a:buChar char="§"/>
              <a:defRPr/>
            </a:lvl4pPr>
            <a:lvl5pPr>
              <a:buFont typeface="Arial" pitchFamily="34" charset="0"/>
              <a:buChar char="•"/>
              <a:defRPr/>
            </a:lvl5pPr>
          </a:lstStyle>
          <a:p>
            <a:pPr lvl="0"/>
            <a:r>
              <a:rPr lang="en-US" noProof="0" dirty="0" smtClean="0"/>
              <a:t>First Level</a:t>
            </a:r>
          </a:p>
          <a:p>
            <a:pPr lvl="1"/>
            <a:r>
              <a:rPr lang="en-US" noProof="0" dirty="0" smtClean="0"/>
              <a:t>Second level</a:t>
            </a:r>
          </a:p>
          <a:p>
            <a:pPr lvl="2"/>
            <a:r>
              <a:rPr lang="en-US" noProof="0" dirty="0" smtClean="0"/>
              <a:t>Third level</a:t>
            </a:r>
          </a:p>
        </p:txBody>
      </p:sp>
      <p:sp>
        <p:nvSpPr>
          <p:cNvPr id="8" name="Text Placeholder 7"/>
          <p:cNvSpPr>
            <a:spLocks noGrp="1"/>
          </p:cNvSpPr>
          <p:nvPr>
            <p:ph type="body" sz="quarter" idx="11" hasCustomPrompt="1"/>
          </p:nvPr>
        </p:nvSpPr>
        <p:spPr>
          <a:xfrm>
            <a:off x="457200" y="228600"/>
            <a:ext cx="8229600" cy="533400"/>
          </a:xfrm>
          <a:prstGeom prst="rect">
            <a:avLst/>
          </a:prstGeom>
        </p:spPr>
        <p:txBody>
          <a:bodyPr lIns="91350" tIns="0" rIns="91350" bIns="0" anchor="b" anchorCtr="0"/>
          <a:lstStyle>
            <a:lvl1pPr>
              <a:buNone/>
              <a:defRPr sz="3200" b="1" baseline="0">
                <a:solidFill>
                  <a:srgbClr val="683426"/>
                </a:solidFill>
                <a:latin typeface="Calibri" pitchFamily="34" charset="0"/>
              </a:defRPr>
            </a:lvl1pPr>
            <a:lvl3pPr>
              <a:buNone/>
              <a:defRPr/>
            </a:lvl3pPr>
            <a:lvl4pPr>
              <a:buNone/>
              <a:defRPr/>
            </a:lvl4pPr>
            <a:lvl5pPr>
              <a:buNone/>
              <a:defRPr/>
            </a:lvl5pPr>
          </a:lstStyle>
          <a:p>
            <a:pPr lvl="0"/>
            <a:r>
              <a:rPr lang="en-US" dirty="0" smtClean="0"/>
              <a:t>Slide Title</a:t>
            </a:r>
          </a:p>
        </p:txBody>
      </p:sp>
      <p:sp>
        <p:nvSpPr>
          <p:cNvPr id="5" name="Slide Number Placeholder 5"/>
          <p:cNvSpPr>
            <a:spLocks noGrp="1"/>
          </p:cNvSpPr>
          <p:nvPr>
            <p:ph type="sldNum" sz="quarter" idx="12"/>
          </p:nvPr>
        </p:nvSpPr>
        <p:spPr>
          <a:xfrm>
            <a:off x="8229600" y="6454135"/>
            <a:ext cx="457200" cy="365125"/>
          </a:xfrm>
          <a:prstGeom prst="rect">
            <a:avLst/>
          </a:prstGeom>
        </p:spPr>
        <p:txBody>
          <a:bodyPr vert="horz" lIns="91350" tIns="45675" rIns="91350" bIns="45675" rtlCol="0" anchor="ctr"/>
          <a:lstStyle>
            <a:lvl1pPr algn="r" fontAlgn="auto">
              <a:spcBef>
                <a:spcPts val="0"/>
              </a:spcBef>
              <a:spcAft>
                <a:spcPts val="0"/>
              </a:spcAft>
              <a:defRPr sz="1200">
                <a:solidFill>
                  <a:schemeClr val="tx1">
                    <a:lumMod val="50000"/>
                    <a:lumOff val="50000"/>
                  </a:schemeClr>
                </a:solidFill>
                <a:latin typeface="+mn-lt"/>
              </a:defRPr>
            </a:lvl1pPr>
          </a:lstStyle>
          <a:p>
            <a:pPr>
              <a:defRPr/>
            </a:pPr>
            <a:fld id="{D41B7170-09C0-40F4-99DA-F498961818C4}" type="slidenum">
              <a:rPr lang="en-US" smtClean="0">
                <a:solidFill>
                  <a:prstClr val="black">
                    <a:lumMod val="50000"/>
                    <a:lumOff val="50000"/>
                  </a:prstClr>
                </a:solidFill>
              </a:rPr>
              <a:pPr>
                <a:defRPr/>
              </a:pPr>
              <a:t>‹#›</a:t>
            </a:fld>
            <a:endParaRPr lang="en-US" dirty="0">
              <a:solidFill>
                <a:prstClr val="black">
                  <a:lumMod val="50000"/>
                  <a:lumOff val="50000"/>
                </a:prstClr>
              </a:solidFill>
            </a:endParaRPr>
          </a:p>
        </p:txBody>
      </p:sp>
      <p:sp>
        <p:nvSpPr>
          <p:cNvPr id="9" name="Text Placeholder 8"/>
          <p:cNvSpPr>
            <a:spLocks noGrp="1"/>
          </p:cNvSpPr>
          <p:nvPr>
            <p:ph type="body" sz="quarter" idx="13" hasCustomPrompt="1"/>
          </p:nvPr>
        </p:nvSpPr>
        <p:spPr>
          <a:xfrm>
            <a:off x="457200" y="762000"/>
            <a:ext cx="8229600" cy="304800"/>
          </a:xfrm>
          <a:prstGeom prst="rect">
            <a:avLst/>
          </a:prstGeom>
        </p:spPr>
        <p:txBody>
          <a:bodyPr lIns="91350" tIns="0" rIns="91350" bIns="0"/>
          <a:lstStyle>
            <a:lvl1pPr>
              <a:buNone/>
              <a:defRPr sz="1800" baseline="0">
                <a:solidFill>
                  <a:schemeClr val="tx1">
                    <a:lumMod val="50000"/>
                    <a:lumOff val="50000"/>
                  </a:schemeClr>
                </a:solidFill>
              </a:defRPr>
            </a:lvl1pPr>
          </a:lstStyle>
          <a:p>
            <a:pPr lvl="0"/>
            <a:r>
              <a:rPr lang="en-US" dirty="0" smtClean="0"/>
              <a:t>Module Title</a:t>
            </a:r>
            <a:endParaRPr lang="en-US" dirty="0"/>
          </a:p>
        </p:txBody>
      </p:sp>
      <p:pic>
        <p:nvPicPr>
          <p:cNvPr id="6" name="Picture 2" descr="jpm_chase_logo.gif"/>
          <p:cNvPicPr>
            <a:picLocks noChangeAspect="1" noChangeArrowheads="1"/>
          </p:cNvPicPr>
          <p:nvPr userDrawn="1"/>
        </p:nvPicPr>
        <p:blipFill>
          <a:blip r:embed="rId2" cstate="print"/>
          <a:srcRect/>
          <a:stretch>
            <a:fillRect/>
          </a:stretch>
        </p:blipFill>
        <p:spPr bwMode="auto">
          <a:xfrm>
            <a:off x="6553200" y="6583405"/>
            <a:ext cx="1569204" cy="106705"/>
          </a:xfrm>
          <a:prstGeom prst="rect">
            <a:avLst/>
          </a:prstGeom>
          <a:noFill/>
        </p:spPr>
      </p:pic>
    </p:spTree>
    <p:extLst>
      <p:ext uri="{BB962C8B-B14F-4D97-AF65-F5344CB8AC3E}">
        <p14:creationId xmlns:p14="http://schemas.microsoft.com/office/powerpoint/2010/main" val="14531649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lIns="91350" tIns="45675" rIns="91350" bIns="45675"/>
          <a:lstStyle/>
          <a:p>
            <a:r>
              <a:rPr lang="en-US" smtClean="0"/>
              <a:t>Click to edit Master title style</a:t>
            </a:r>
            <a:endParaRPr lang="en-US"/>
          </a:p>
        </p:txBody>
      </p:sp>
      <p:sp>
        <p:nvSpPr>
          <p:cNvPr id="3" name="Content Placeholder 2"/>
          <p:cNvSpPr>
            <a:spLocks noGrp="1"/>
          </p:cNvSpPr>
          <p:nvPr>
            <p:ph idx="1"/>
          </p:nvPr>
        </p:nvSpPr>
        <p:spPr>
          <a:xfrm>
            <a:off x="457200" y="1600213"/>
            <a:ext cx="8229600" cy="4525963"/>
          </a:xfrm>
          <a:prstGeom prst="rect">
            <a:avLst/>
          </a:prstGeom>
        </p:spPr>
        <p:txBody>
          <a:bodyPr lIns="91350" tIns="45675" rIns="91350" bIns="45675"/>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8"/>
            <a:ext cx="2133600" cy="365125"/>
          </a:xfrm>
          <a:prstGeom prst="rect">
            <a:avLst/>
          </a:prstGeom>
        </p:spPr>
        <p:txBody>
          <a:bodyPr lIns="91350" tIns="45675" rIns="91350" bIns="45675"/>
          <a:lstStyle/>
          <a:p>
            <a:pPr fontAlgn="base">
              <a:spcBef>
                <a:spcPct val="0"/>
              </a:spcBef>
              <a:spcAft>
                <a:spcPct val="0"/>
              </a:spcAft>
            </a:pPr>
            <a:fld id="{B976FF37-29CD-4F60-A4A3-D081220D3683}" type="datetimeFigureOut">
              <a:rPr lang="en-US">
                <a:solidFill>
                  <a:prstClr val="black"/>
                </a:solidFill>
                <a:latin typeface="Arial" charset="0"/>
              </a:rPr>
              <a:pPr fontAlgn="base">
                <a:spcBef>
                  <a:spcPct val="0"/>
                </a:spcBef>
                <a:spcAft>
                  <a:spcPct val="0"/>
                </a:spcAft>
              </a:pPr>
              <a:t>5/7/2019</a:t>
            </a:fld>
            <a:endParaRPr lang="en-US">
              <a:solidFill>
                <a:prstClr val="black"/>
              </a:solidFill>
              <a:latin typeface="Arial" charset="0"/>
            </a:endParaRPr>
          </a:p>
        </p:txBody>
      </p:sp>
      <p:sp>
        <p:nvSpPr>
          <p:cNvPr id="5" name="Footer Placeholder 4"/>
          <p:cNvSpPr>
            <a:spLocks noGrp="1"/>
          </p:cNvSpPr>
          <p:nvPr>
            <p:ph type="ftr" sz="quarter" idx="11"/>
          </p:nvPr>
        </p:nvSpPr>
        <p:spPr>
          <a:xfrm>
            <a:off x="3124201" y="6356358"/>
            <a:ext cx="2895600" cy="365125"/>
          </a:xfrm>
          <a:prstGeom prst="rect">
            <a:avLst/>
          </a:prstGeom>
        </p:spPr>
        <p:txBody>
          <a:bodyPr lIns="91350" tIns="45675" rIns="91350" bIns="45675"/>
          <a:lstStyle/>
          <a:p>
            <a:pPr fontAlgn="base">
              <a:spcBef>
                <a:spcPct val="0"/>
              </a:spcBef>
              <a:spcAft>
                <a:spcPct val="0"/>
              </a:spcAft>
            </a:pPr>
            <a:endParaRPr lang="en-US">
              <a:solidFill>
                <a:prstClr val="black"/>
              </a:solidFill>
              <a:latin typeface="Arial" charset="0"/>
            </a:endParaRPr>
          </a:p>
        </p:txBody>
      </p:sp>
      <p:sp>
        <p:nvSpPr>
          <p:cNvPr id="6" name="Slide Number Placeholder 5"/>
          <p:cNvSpPr>
            <a:spLocks noGrp="1"/>
          </p:cNvSpPr>
          <p:nvPr>
            <p:ph type="sldNum" sz="quarter" idx="12"/>
          </p:nvPr>
        </p:nvSpPr>
        <p:spPr>
          <a:xfrm>
            <a:off x="6553200" y="6356358"/>
            <a:ext cx="2133600" cy="365125"/>
          </a:xfrm>
          <a:prstGeom prst="rect">
            <a:avLst/>
          </a:prstGeom>
        </p:spPr>
        <p:txBody>
          <a:bodyPr/>
          <a:lstStyle/>
          <a:p>
            <a:pPr fontAlgn="base">
              <a:spcBef>
                <a:spcPct val="0"/>
              </a:spcBef>
              <a:spcAft>
                <a:spcPct val="0"/>
              </a:spcAft>
            </a:pPr>
            <a:fld id="{492B3C1A-A307-48BA-917C-56431FDB17EF}" type="slidenum">
              <a:rPr lang="en-US">
                <a:solidFill>
                  <a:prstClr val="black"/>
                </a:solidFill>
                <a:latin typeface="Arial" charset="0"/>
              </a:rPr>
              <a:pPr fontAlgn="base">
                <a:spcBef>
                  <a:spcPct val="0"/>
                </a:spcBef>
                <a:spcAft>
                  <a:spcPct val="0"/>
                </a:spcAft>
              </a:pPr>
              <a:t>‹#›</a:t>
            </a:fld>
            <a:endParaRPr lang="en-US">
              <a:solidFill>
                <a:prstClr val="black"/>
              </a:solidFill>
              <a:latin typeface="Arial" charset="0"/>
            </a:endParaRPr>
          </a:p>
        </p:txBody>
      </p:sp>
      <p:sp>
        <p:nvSpPr>
          <p:cNvPr id="7" name="Slide Number Placeholder 5"/>
          <p:cNvSpPr txBox="1">
            <a:spLocks/>
          </p:cNvSpPr>
          <p:nvPr userDrawn="1"/>
        </p:nvSpPr>
        <p:spPr>
          <a:xfrm>
            <a:off x="8229600" y="6454135"/>
            <a:ext cx="457200" cy="365125"/>
          </a:xfrm>
          <a:prstGeom prst="rect">
            <a:avLst/>
          </a:prstGeom>
        </p:spPr>
        <p:txBody>
          <a:bodyPr vert="horz" lIns="91350" tIns="45675" rIns="91350" bIns="45675" rtlCol="0" anchor="ctr"/>
          <a:lstStyle>
            <a:defPPr>
              <a:defRPr lang="en-US"/>
            </a:defPPr>
            <a:lvl1pPr algn="r" rtl="0" fontAlgn="auto">
              <a:spcBef>
                <a:spcPts val="0"/>
              </a:spcBef>
              <a:spcAft>
                <a:spcPts val="0"/>
              </a:spcAft>
              <a:defRPr sz="1200" kern="1200">
                <a:solidFill>
                  <a:schemeClr val="tx1">
                    <a:lumMod val="50000"/>
                    <a:lumOff val="50000"/>
                  </a:schemeClr>
                </a:solidFill>
                <a:latin typeface="+mn-lt"/>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defRPr/>
            </a:pPr>
            <a:fld id="{D41B7170-09C0-40F4-99DA-F498961818C4}" type="slidenum">
              <a:rPr lang="en-US" smtClean="0">
                <a:solidFill>
                  <a:prstClr val="black">
                    <a:lumMod val="50000"/>
                    <a:lumOff val="50000"/>
                  </a:prstClr>
                </a:solidFill>
              </a:rPr>
              <a:pPr>
                <a:defRPr/>
              </a:pPr>
              <a:t>‹#›</a:t>
            </a:fld>
            <a:endParaRPr lang="en-US" dirty="0">
              <a:solidFill>
                <a:prstClr val="black">
                  <a:lumMod val="50000"/>
                  <a:lumOff val="50000"/>
                </a:prstClr>
              </a:solidFill>
            </a:endParaRPr>
          </a:p>
        </p:txBody>
      </p:sp>
    </p:spTree>
    <p:extLst>
      <p:ext uri="{BB962C8B-B14F-4D97-AF65-F5344CB8AC3E}">
        <p14:creationId xmlns:p14="http://schemas.microsoft.com/office/powerpoint/2010/main" val="1854500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748800" y="1330126"/>
            <a:ext cx="7646400" cy="4546800"/>
          </a:xfrm>
          <a:prstGeom prst="rect">
            <a:avLst/>
          </a:prstGeo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dirty="0"/>
          </a:p>
        </p:txBody>
      </p:sp>
      <p:sp>
        <p:nvSpPr>
          <p:cNvPr id="3" name="Title 2"/>
          <p:cNvSpPr>
            <a:spLocks noGrp="1"/>
          </p:cNvSpPr>
          <p:nvPr>
            <p:ph type="title"/>
          </p:nvPr>
        </p:nvSpPr>
        <p:spPr>
          <a:xfrm>
            <a:off x="689958" y="467960"/>
            <a:ext cx="7478568" cy="540684"/>
          </a:xfrm>
          <a:prstGeom prst="rect">
            <a:avLst/>
          </a:prstGeom>
        </p:spPr>
        <p:txBody>
          <a:bodyPr/>
          <a:lstStyle/>
          <a:p>
            <a:r>
              <a:rPr lang="en-US" noProof="0" smtClean="0"/>
              <a:t>Click to edit Master title style</a:t>
            </a:r>
            <a:endParaRPr lang="en-US" noProof="0" dirty="0"/>
          </a:p>
        </p:txBody>
      </p:sp>
      <p:sp>
        <p:nvSpPr>
          <p:cNvPr id="4" name="Slide Number Placeholder 18"/>
          <p:cNvSpPr>
            <a:spLocks noGrp="1"/>
          </p:cNvSpPr>
          <p:nvPr>
            <p:ph type="sldNum" sz="quarter" idx="4"/>
          </p:nvPr>
        </p:nvSpPr>
        <p:spPr>
          <a:xfrm>
            <a:off x="4705004" y="6398111"/>
            <a:ext cx="141317" cy="137160"/>
          </a:xfrm>
          <a:prstGeom prst="rect">
            <a:avLst/>
          </a:prstGeom>
        </p:spPr>
        <p:txBody>
          <a:bodyPr vert="horz" wrap="none" lIns="0" tIns="0" rIns="0" bIns="0" rtlCol="0" anchor="ctr"/>
          <a:lstStyle>
            <a:lvl1pPr algn="ctr">
              <a:defRPr sz="662" b="1">
                <a:solidFill>
                  <a:srgbClr val="6D6E71"/>
                </a:solidFill>
              </a:defRPr>
            </a:lvl1pPr>
          </a:lstStyle>
          <a:p>
            <a:fld id="{2FBAC5BC-60FF-4ED6-BBF5-8BA5E0816DA7}" type="slidenum">
              <a:rPr smtClean="0"/>
              <a:pPr/>
              <a:t>‹#›</a:t>
            </a:fld>
            <a:endParaRPr dirty="0"/>
          </a:p>
        </p:txBody>
      </p:sp>
    </p:spTree>
    <p:extLst>
      <p:ext uri="{BB962C8B-B14F-4D97-AF65-F5344CB8AC3E}">
        <p14:creationId xmlns:p14="http://schemas.microsoft.com/office/powerpoint/2010/main" val="304303116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3501541" y="6364413"/>
            <a:ext cx="2133600" cy="365125"/>
          </a:xfrm>
          <a:prstGeom prst="rect">
            <a:avLst/>
          </a:prstGeom>
        </p:spPr>
        <p:txBody>
          <a:bodyPr vert="horz" lIns="91350" tIns="45675" rIns="91350" bIns="45675" rtlCol="0" anchor="ctr"/>
          <a:lstStyle>
            <a:lvl1pPr algn="ctr">
              <a:defRPr sz="1200">
                <a:solidFill>
                  <a:schemeClr val="tx1">
                    <a:tint val="75000"/>
                  </a:schemeClr>
                </a:solidFill>
              </a:defRPr>
            </a:lvl1pPr>
          </a:lstStyle>
          <a:p>
            <a:fld id="{BA3C9C5E-87F4-4BA0-A920-BD34345D3D33}" type="slidenum">
              <a:rPr lang="en-US" smtClean="0">
                <a:solidFill>
                  <a:prstClr val="black">
                    <a:tint val="75000"/>
                  </a:prstClr>
                </a:solidFill>
              </a:rPr>
              <a:pPr/>
              <a:t>‹#›</a:t>
            </a:fld>
            <a:endParaRPr lang="en-US" dirty="0">
              <a:solidFill>
                <a:prstClr val="black">
                  <a:tint val="75000"/>
                </a:prstClr>
              </a:solidFill>
            </a:endParaRPr>
          </a:p>
        </p:txBody>
      </p:sp>
      <p:sp>
        <p:nvSpPr>
          <p:cNvPr id="7" name="Rectangle 6"/>
          <p:cNvSpPr/>
          <p:nvPr/>
        </p:nvSpPr>
        <p:spPr bwMode="auto">
          <a:xfrm>
            <a:off x="-7314" y="13"/>
            <a:ext cx="9151315" cy="1084635"/>
          </a:xfrm>
          <a:prstGeom prst="rect">
            <a:avLst/>
          </a:prstGeom>
          <a:solidFill>
            <a:srgbClr val="0A4579"/>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
        <p:nvSpPr>
          <p:cNvPr id="8" name="Rectangle 7"/>
          <p:cNvSpPr/>
          <p:nvPr/>
        </p:nvSpPr>
        <p:spPr bwMode="auto">
          <a:xfrm>
            <a:off x="-7314" y="1084637"/>
            <a:ext cx="9151315" cy="93274"/>
          </a:xfrm>
          <a:prstGeom prst="rect">
            <a:avLst/>
          </a:prstGeom>
          <a:solidFill>
            <a:srgbClr val="8C891F"/>
          </a:solidFill>
          <a:ln w="9525" cap="flat" cmpd="sng" algn="ctr">
            <a:solidFill>
              <a:srgbClr val="808080"/>
            </a:solidFill>
            <a:prstDash val="solid"/>
            <a:round/>
            <a:headEnd type="none" w="med" len="med"/>
            <a:tailEnd type="none" w="med" len="med"/>
          </a:ln>
          <a:effectLst/>
        </p:spPr>
        <p:txBody>
          <a:bodyPr vert="horz" wrap="none" lIns="45675" tIns="45675" rIns="45675" bIns="45675" numCol="1" rtlCol="0" anchor="ctr" anchorCtr="0" compatLnSpc="1">
            <a:prstTxWarp prst="textNoShape">
              <a:avLst/>
            </a:prstTxWarp>
          </a:bodyPr>
          <a:lstStyle/>
          <a:p>
            <a:pPr algn="ctr" eaLnBrk="0" fontAlgn="base" hangingPunct="0">
              <a:spcBef>
                <a:spcPct val="50000"/>
              </a:spcBef>
              <a:spcAft>
                <a:spcPct val="0"/>
              </a:spcAft>
            </a:pPr>
            <a:endParaRPr lang="en-US" sz="1100">
              <a:solidFill>
                <a:prstClr val="black"/>
              </a:solidFill>
              <a:latin typeface="Arial" charset="0"/>
            </a:endParaRPr>
          </a:p>
        </p:txBody>
      </p:sp>
    </p:spTree>
    <p:extLst>
      <p:ext uri="{BB962C8B-B14F-4D97-AF65-F5344CB8AC3E}">
        <p14:creationId xmlns:p14="http://schemas.microsoft.com/office/powerpoint/2010/main" val="2781620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defTabSz="913513" rtl="0" eaLnBrk="1" latinLnBrk="0" hangingPunct="1">
        <a:spcBef>
          <a:spcPct val="0"/>
        </a:spcBef>
        <a:buNone/>
        <a:defRPr sz="4400" kern="1200">
          <a:solidFill>
            <a:schemeClr val="tx1"/>
          </a:solidFill>
          <a:latin typeface="+mj-lt"/>
          <a:ea typeface="+mj-ea"/>
          <a:cs typeface="+mj-cs"/>
        </a:defRPr>
      </a:lvl1pPr>
    </p:titleStyle>
    <p:bodyStyle>
      <a:lvl1pPr marL="342567" indent="-342567" algn="l" defTabSz="913513" rtl="0" eaLnBrk="1" latinLnBrk="0" hangingPunct="1">
        <a:spcBef>
          <a:spcPct val="20000"/>
        </a:spcBef>
        <a:buFont typeface="Wingdings" panose="05000000000000000000" pitchFamily="2" charset="2"/>
        <a:buChar char="§"/>
        <a:defRPr sz="2400" kern="1200">
          <a:solidFill>
            <a:schemeClr val="tx1"/>
          </a:solidFill>
          <a:latin typeface="+mn-lt"/>
          <a:ea typeface="+mn-ea"/>
          <a:cs typeface="+mn-cs"/>
        </a:defRPr>
      </a:lvl1pPr>
      <a:lvl2pPr marL="742230" indent="-285471" algn="l" defTabSz="913513"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2pPr>
      <a:lvl3pPr marL="1141893" indent="-228378" algn="l" defTabSz="91351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3pPr>
      <a:lvl4pPr marL="1598647" indent="-228378" algn="l" defTabSz="913513"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4pPr>
      <a:lvl5pPr marL="2055402" indent="-228378" algn="l" defTabSz="913513"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5pPr>
      <a:lvl6pPr marL="2512160" indent="-228378" algn="l" defTabSz="91351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68916" indent="-228378" algn="l" defTabSz="91351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5672" indent="-228378" algn="l" defTabSz="91351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2429" indent="-228378" algn="l" defTabSz="91351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3513" rtl="0" eaLnBrk="1" latinLnBrk="0" hangingPunct="1">
        <a:defRPr sz="1800" kern="1200">
          <a:solidFill>
            <a:schemeClr val="tx1"/>
          </a:solidFill>
          <a:latin typeface="+mn-lt"/>
          <a:ea typeface="+mn-ea"/>
          <a:cs typeface="+mn-cs"/>
        </a:defRPr>
      </a:lvl1pPr>
      <a:lvl2pPr marL="456757" algn="l" defTabSz="913513" rtl="0" eaLnBrk="1" latinLnBrk="0" hangingPunct="1">
        <a:defRPr sz="1800" kern="1200">
          <a:solidFill>
            <a:schemeClr val="tx1"/>
          </a:solidFill>
          <a:latin typeface="+mn-lt"/>
          <a:ea typeface="+mn-ea"/>
          <a:cs typeface="+mn-cs"/>
        </a:defRPr>
      </a:lvl2pPr>
      <a:lvl3pPr marL="913513" algn="l" defTabSz="913513" rtl="0" eaLnBrk="1" latinLnBrk="0" hangingPunct="1">
        <a:defRPr sz="1800" kern="1200">
          <a:solidFill>
            <a:schemeClr val="tx1"/>
          </a:solidFill>
          <a:latin typeface="+mn-lt"/>
          <a:ea typeface="+mn-ea"/>
          <a:cs typeface="+mn-cs"/>
        </a:defRPr>
      </a:lvl3pPr>
      <a:lvl4pPr marL="1370268" algn="l" defTabSz="913513" rtl="0" eaLnBrk="1" latinLnBrk="0" hangingPunct="1">
        <a:defRPr sz="1800" kern="1200">
          <a:solidFill>
            <a:schemeClr val="tx1"/>
          </a:solidFill>
          <a:latin typeface="+mn-lt"/>
          <a:ea typeface="+mn-ea"/>
          <a:cs typeface="+mn-cs"/>
        </a:defRPr>
      </a:lvl4pPr>
      <a:lvl5pPr marL="1827025" algn="l" defTabSz="913513" rtl="0" eaLnBrk="1" latinLnBrk="0" hangingPunct="1">
        <a:defRPr sz="1800" kern="1200">
          <a:solidFill>
            <a:schemeClr val="tx1"/>
          </a:solidFill>
          <a:latin typeface="+mn-lt"/>
          <a:ea typeface="+mn-ea"/>
          <a:cs typeface="+mn-cs"/>
        </a:defRPr>
      </a:lvl5pPr>
      <a:lvl6pPr marL="2283783" algn="l" defTabSz="913513" rtl="0" eaLnBrk="1" latinLnBrk="0" hangingPunct="1">
        <a:defRPr sz="1800" kern="1200">
          <a:solidFill>
            <a:schemeClr val="tx1"/>
          </a:solidFill>
          <a:latin typeface="+mn-lt"/>
          <a:ea typeface="+mn-ea"/>
          <a:cs typeface="+mn-cs"/>
        </a:defRPr>
      </a:lvl6pPr>
      <a:lvl7pPr marL="2740540" algn="l" defTabSz="913513" rtl="0" eaLnBrk="1" latinLnBrk="0" hangingPunct="1">
        <a:defRPr sz="1800" kern="1200">
          <a:solidFill>
            <a:schemeClr val="tx1"/>
          </a:solidFill>
          <a:latin typeface="+mn-lt"/>
          <a:ea typeface="+mn-ea"/>
          <a:cs typeface="+mn-cs"/>
        </a:defRPr>
      </a:lvl7pPr>
      <a:lvl8pPr marL="3197295" algn="l" defTabSz="913513" rtl="0" eaLnBrk="1" latinLnBrk="0" hangingPunct="1">
        <a:defRPr sz="1800" kern="1200">
          <a:solidFill>
            <a:schemeClr val="tx1"/>
          </a:solidFill>
          <a:latin typeface="+mn-lt"/>
          <a:ea typeface="+mn-ea"/>
          <a:cs typeface="+mn-cs"/>
        </a:defRPr>
      </a:lvl8pPr>
      <a:lvl9pPr marL="3654045" algn="l" defTabSz="91351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image" Target="../media/image11.png"/><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13.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Testing Overview</a:t>
            </a:r>
            <a:endParaRPr lang="en-US" dirty="0"/>
          </a:p>
        </p:txBody>
      </p:sp>
    </p:spTree>
    <p:extLst>
      <p:ext uri="{BB962C8B-B14F-4D97-AF65-F5344CB8AC3E}">
        <p14:creationId xmlns:p14="http://schemas.microsoft.com/office/powerpoint/2010/main" val="6250024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a:xfrm>
            <a:off x="457200" y="1371613"/>
            <a:ext cx="8229600" cy="4876787"/>
          </a:xfrm>
        </p:spPr>
        <p:txBody>
          <a:bodyPr/>
          <a:lstStyle/>
          <a:p>
            <a:r>
              <a:rPr lang="en-US" dirty="0" smtClean="0"/>
              <a:t>Testing Overview</a:t>
            </a:r>
          </a:p>
          <a:p>
            <a:r>
              <a:rPr lang="en-US" dirty="0" smtClean="0"/>
              <a:t>Testing Pipeline</a:t>
            </a:r>
          </a:p>
          <a:p>
            <a:r>
              <a:rPr lang="en-US" dirty="0" smtClean="0"/>
              <a:t>The Testing Universe</a:t>
            </a:r>
          </a:p>
          <a:p>
            <a:r>
              <a:rPr lang="en-US" dirty="0" smtClean="0"/>
              <a:t>Testing @ JPMC</a:t>
            </a:r>
          </a:p>
          <a:p>
            <a:r>
              <a:rPr lang="en-US" dirty="0" smtClean="0"/>
              <a:t>Unit Tests</a:t>
            </a:r>
          </a:p>
          <a:p>
            <a:r>
              <a:rPr lang="en-US" dirty="0" smtClean="0"/>
              <a:t>Integration Tests</a:t>
            </a:r>
          </a:p>
          <a:p>
            <a:r>
              <a:rPr lang="en-US" dirty="0" smtClean="0"/>
              <a:t>End to End Tests</a:t>
            </a:r>
          </a:p>
          <a:p>
            <a:r>
              <a:rPr lang="en-US" dirty="0" smtClean="0"/>
              <a:t>Appendix</a:t>
            </a:r>
          </a:p>
        </p:txBody>
      </p:sp>
    </p:spTree>
    <p:extLst>
      <p:ext uri="{BB962C8B-B14F-4D97-AF65-F5344CB8AC3E}">
        <p14:creationId xmlns:p14="http://schemas.microsoft.com/office/powerpoint/2010/main" val="380157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 </a:t>
            </a:r>
            <a:endParaRPr lang="en-US" dirty="0"/>
          </a:p>
        </p:txBody>
      </p:sp>
      <p:sp>
        <p:nvSpPr>
          <p:cNvPr id="3" name="Content Placeholder 2"/>
          <p:cNvSpPr>
            <a:spLocks noGrp="1"/>
          </p:cNvSpPr>
          <p:nvPr>
            <p:ph idx="1"/>
          </p:nvPr>
        </p:nvSpPr>
        <p:spPr/>
        <p:txBody>
          <a:bodyPr/>
          <a:lstStyle/>
          <a:p>
            <a:r>
              <a:rPr lang="en-US" dirty="0" smtClean="0"/>
              <a:t>Provide confidence to you and your team that the code you write is functioning as intended.</a:t>
            </a:r>
          </a:p>
          <a:p>
            <a:r>
              <a:rPr lang="en-US" dirty="0" smtClean="0"/>
              <a:t>As projects expand and create complex interactions between different components of an application, a small error can have a huge impact on the system as a whole.</a:t>
            </a:r>
          </a:p>
          <a:p>
            <a:r>
              <a:rPr lang="en-US" dirty="0" smtClean="0"/>
              <a:t>Increases speed of hotfixes. If there is a problem in your code, tests can tell you where the problem originates.</a:t>
            </a:r>
            <a:endParaRPr lang="en-US" dirty="0"/>
          </a:p>
        </p:txBody>
      </p:sp>
    </p:spTree>
    <p:extLst>
      <p:ext uri="{BB962C8B-B14F-4D97-AF65-F5344CB8AC3E}">
        <p14:creationId xmlns:p14="http://schemas.microsoft.com/office/powerpoint/2010/main" val="20372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Testing Pipeline</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 y="1676400"/>
            <a:ext cx="8458200" cy="4458176"/>
          </a:xfrm>
          <a:prstGeom prst="rect">
            <a:avLst/>
          </a:prstGeom>
        </p:spPr>
      </p:pic>
    </p:spTree>
    <p:extLst>
      <p:ext uri="{BB962C8B-B14F-4D97-AF65-F5344CB8AC3E}">
        <p14:creationId xmlns:p14="http://schemas.microsoft.com/office/powerpoint/2010/main" val="1449743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The Testing Universe</a:t>
            </a:r>
            <a:endParaRPr lang="en-US" dirty="0">
              <a:solidFill>
                <a:srgbClr val="FF0000"/>
              </a:solidFill>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68694" y="1447800"/>
            <a:ext cx="4640851" cy="5118586"/>
          </a:xfrm>
        </p:spPr>
      </p:pic>
    </p:spTree>
    <p:extLst>
      <p:ext uri="{BB962C8B-B14F-4D97-AF65-F5344CB8AC3E}">
        <p14:creationId xmlns:p14="http://schemas.microsoft.com/office/powerpoint/2010/main" val="4063169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Testing Universe Cont.</a:t>
            </a:r>
            <a:endParaRPr lang="en-US" dirty="0"/>
          </a:p>
        </p:txBody>
      </p:sp>
      <p:pic>
        <p:nvPicPr>
          <p:cNvPr id="4" name="Picture 3"/>
          <p:cNvPicPr>
            <a:picLocks noChangeAspect="1"/>
          </p:cNvPicPr>
          <p:nvPr/>
        </p:nvPicPr>
        <p:blipFill>
          <a:blip r:embed="rId2"/>
          <a:stretch>
            <a:fillRect/>
          </a:stretch>
        </p:blipFill>
        <p:spPr>
          <a:xfrm>
            <a:off x="1988820" y="1371600"/>
            <a:ext cx="4800600" cy="5077701"/>
          </a:xfrm>
          <a:prstGeom prst="rect">
            <a:avLst/>
          </a:prstGeom>
        </p:spPr>
      </p:pic>
    </p:spTree>
    <p:extLst>
      <p:ext uri="{BB962C8B-B14F-4D97-AF65-F5344CB8AC3E}">
        <p14:creationId xmlns:p14="http://schemas.microsoft.com/office/powerpoint/2010/main" val="4107242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Testing @ JPMC</a:t>
            </a:r>
            <a:endParaRPr lang="en-US" dirty="0">
              <a:solidFill>
                <a:srgbClr val="FF0000"/>
              </a:solidFill>
            </a:endParaRPr>
          </a:p>
        </p:txBody>
      </p:sp>
      <p:sp>
        <p:nvSpPr>
          <p:cNvPr id="3" name="Content Placeholder 2"/>
          <p:cNvSpPr>
            <a:spLocks noGrp="1"/>
          </p:cNvSpPr>
          <p:nvPr>
            <p:ph idx="1"/>
          </p:nvPr>
        </p:nvSpPr>
        <p:spPr/>
        <p:txBody>
          <a:bodyPr/>
          <a:lstStyle/>
          <a:p>
            <a:pPr marL="171450" lvl="0" indent="-171450" algn="just" defTabSz="914363">
              <a:lnSpc>
                <a:spcPct val="150000"/>
              </a:lnSpc>
              <a:spcBef>
                <a:spcPts val="0"/>
              </a:spcBef>
              <a:buClrTx/>
            </a:pPr>
            <a:r>
              <a:rPr lang="en-US" sz="1800" dirty="0">
                <a:solidFill>
                  <a:schemeClr val="bg1">
                    <a:lumMod val="50000"/>
                  </a:schemeClr>
                </a:solidFill>
                <a:latin typeface="Segoe UI"/>
              </a:rPr>
              <a:t>The industry as a whole is moving away from specialized testing teams and towards T-shaped developers who test their own code</a:t>
            </a:r>
          </a:p>
          <a:p>
            <a:pPr marL="171450" indent="-171450" algn="just" defTabSz="914363">
              <a:lnSpc>
                <a:spcPct val="150000"/>
              </a:lnSpc>
              <a:spcBef>
                <a:spcPts val="0"/>
              </a:spcBef>
              <a:buClrTx/>
            </a:pPr>
            <a:r>
              <a:rPr lang="en-US" sz="1800" dirty="0">
                <a:solidFill>
                  <a:schemeClr val="bg1">
                    <a:lumMod val="50000"/>
                  </a:schemeClr>
                </a:solidFill>
                <a:latin typeface="Segoe UI"/>
              </a:rPr>
              <a:t>Testing occurs throughout the SDLC in all environments from the IDE -&gt; Production</a:t>
            </a:r>
          </a:p>
          <a:p>
            <a:pPr marL="171450" indent="-171450" algn="just" defTabSz="914363">
              <a:lnSpc>
                <a:spcPct val="150000"/>
              </a:lnSpc>
              <a:spcBef>
                <a:spcPts val="0"/>
              </a:spcBef>
              <a:buClrTx/>
            </a:pPr>
            <a:r>
              <a:rPr lang="en-US" sz="1800" dirty="0">
                <a:solidFill>
                  <a:schemeClr val="bg1">
                    <a:lumMod val="50000"/>
                  </a:schemeClr>
                </a:solidFill>
                <a:latin typeface="Segoe UI"/>
              </a:rPr>
              <a:t>Proper Testing takes into account happy path as well as negative and limit testing</a:t>
            </a:r>
          </a:p>
          <a:p>
            <a:pPr marL="171450" indent="-171450" algn="just" defTabSz="914363">
              <a:lnSpc>
                <a:spcPct val="150000"/>
              </a:lnSpc>
              <a:spcBef>
                <a:spcPts val="0"/>
              </a:spcBef>
              <a:buClrTx/>
            </a:pPr>
            <a:r>
              <a:rPr lang="en-US" sz="1800" dirty="0">
                <a:solidFill>
                  <a:schemeClr val="bg1">
                    <a:lumMod val="50000"/>
                  </a:schemeClr>
                </a:solidFill>
                <a:latin typeface="Segoe UI"/>
              </a:rPr>
              <a:t>Regression testing should be highly automated as part of the CI/CD pipeline</a:t>
            </a:r>
          </a:p>
          <a:p>
            <a:pPr marL="171450" indent="-171450" algn="just" defTabSz="914363">
              <a:lnSpc>
                <a:spcPct val="150000"/>
              </a:lnSpc>
              <a:spcBef>
                <a:spcPts val="0"/>
              </a:spcBef>
              <a:buClrTx/>
            </a:pPr>
            <a:r>
              <a:rPr lang="en-US" sz="1800" dirty="0">
                <a:solidFill>
                  <a:schemeClr val="bg1">
                    <a:lumMod val="50000"/>
                  </a:schemeClr>
                </a:solidFill>
                <a:latin typeface="Segoe UI"/>
              </a:rPr>
              <a:t>Smoke tests are used to validate an environment before using it. (Is it working, is it up)</a:t>
            </a:r>
          </a:p>
          <a:p>
            <a:pPr marL="171450" indent="-171450" algn="just" defTabSz="914363">
              <a:lnSpc>
                <a:spcPct val="150000"/>
              </a:lnSpc>
              <a:spcBef>
                <a:spcPts val="0"/>
              </a:spcBef>
              <a:buClrTx/>
            </a:pPr>
            <a:r>
              <a:rPr lang="en-US" sz="1800" dirty="0">
                <a:solidFill>
                  <a:schemeClr val="bg1">
                    <a:lumMod val="50000"/>
                  </a:schemeClr>
                </a:solidFill>
                <a:latin typeface="Segoe UI"/>
              </a:rPr>
              <a:t>All tests can’t be automated; effort should be based on the test pyramid using team </a:t>
            </a:r>
            <a:r>
              <a:rPr lang="en-US" sz="1800" dirty="0" smtClean="0">
                <a:solidFill>
                  <a:schemeClr val="bg1">
                    <a:lumMod val="50000"/>
                  </a:schemeClr>
                </a:solidFill>
                <a:latin typeface="Segoe UI"/>
              </a:rPr>
              <a:t>input</a:t>
            </a:r>
          </a:p>
        </p:txBody>
      </p:sp>
    </p:spTree>
    <p:extLst>
      <p:ext uri="{BB962C8B-B14F-4D97-AF65-F5344CB8AC3E}">
        <p14:creationId xmlns:p14="http://schemas.microsoft.com/office/powerpoint/2010/main" val="1184610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Testing</a:t>
            </a:r>
            <a:endParaRPr lang="en-US" dirty="0"/>
          </a:p>
        </p:txBody>
      </p:sp>
      <p:sp>
        <p:nvSpPr>
          <p:cNvPr id="3" name="Content Placeholder 2"/>
          <p:cNvSpPr>
            <a:spLocks noGrp="1"/>
          </p:cNvSpPr>
          <p:nvPr>
            <p:ph idx="1"/>
          </p:nvPr>
        </p:nvSpPr>
        <p:spPr>
          <a:xfrm>
            <a:off x="1150620" y="4648200"/>
            <a:ext cx="6629400" cy="685800"/>
          </a:xfrm>
        </p:spPr>
        <p:txBody>
          <a:bodyPr/>
          <a:lstStyle/>
          <a:p>
            <a:pPr marL="0" indent="0">
              <a:buNone/>
            </a:pPr>
            <a:r>
              <a:rPr lang="en-US" dirty="0" smtClean="0">
                <a:solidFill>
                  <a:srgbClr val="FF0000"/>
                </a:solidFill>
              </a:rPr>
              <a:t>Click to see how a team at Chase does Unit Testing</a:t>
            </a:r>
            <a:endParaRPr lang="en-US" dirty="0">
              <a:solidFill>
                <a:srgbClr val="FF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0274" y="1676400"/>
            <a:ext cx="5677692" cy="1790950"/>
          </a:xfrm>
          <a:prstGeom prst="rect">
            <a:avLst/>
          </a:prstGeom>
        </p:spPr>
      </p:pic>
      <p:sp>
        <p:nvSpPr>
          <p:cNvPr id="5" name="TextBox 4"/>
          <p:cNvSpPr txBox="1"/>
          <p:nvPr/>
        </p:nvSpPr>
        <p:spPr>
          <a:xfrm>
            <a:off x="1150620" y="3657600"/>
            <a:ext cx="6477000" cy="923330"/>
          </a:xfrm>
          <a:prstGeom prst="rect">
            <a:avLst/>
          </a:prstGeom>
          <a:noFill/>
        </p:spPr>
        <p:txBody>
          <a:bodyPr wrap="square" rtlCol="0">
            <a:spAutoFit/>
          </a:bodyPr>
          <a:lstStyle/>
          <a:p>
            <a:pPr algn="ctr"/>
            <a:r>
              <a:rPr lang="en-US" dirty="0"/>
              <a:t>Unit tests typically test a single method, class, or function in isolation, providing assurance to the developer that their code operates as designed</a:t>
            </a:r>
          </a:p>
        </p:txBody>
      </p:sp>
    </p:spTree>
    <p:extLst>
      <p:ext uri="{BB962C8B-B14F-4D97-AF65-F5344CB8AC3E}">
        <p14:creationId xmlns:p14="http://schemas.microsoft.com/office/powerpoint/2010/main" val="2568327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Testing</a:t>
            </a:r>
            <a:endParaRPr lang="en-US" dirty="0"/>
          </a:p>
        </p:txBody>
      </p:sp>
      <p:sp>
        <p:nvSpPr>
          <p:cNvPr id="3" name="Content Placeholder 2"/>
          <p:cNvSpPr>
            <a:spLocks noGrp="1"/>
          </p:cNvSpPr>
          <p:nvPr>
            <p:ph idx="1"/>
          </p:nvPr>
        </p:nvSpPr>
        <p:spPr>
          <a:xfrm>
            <a:off x="990600" y="5181600"/>
            <a:ext cx="7467600" cy="609587"/>
          </a:xfrm>
        </p:spPr>
        <p:txBody>
          <a:bodyPr/>
          <a:lstStyle/>
          <a:p>
            <a:pPr marL="0" indent="0">
              <a:buNone/>
            </a:pPr>
            <a:r>
              <a:rPr lang="en-US" dirty="0">
                <a:solidFill>
                  <a:srgbClr val="FF0000"/>
                </a:solidFill>
              </a:rPr>
              <a:t>Click to see how a team at Chase does </a:t>
            </a:r>
            <a:r>
              <a:rPr lang="en-US" dirty="0" smtClean="0">
                <a:solidFill>
                  <a:srgbClr val="FF0000"/>
                </a:solidFill>
              </a:rPr>
              <a:t>Integration </a:t>
            </a:r>
            <a:r>
              <a:rPr lang="en-US" dirty="0">
                <a:solidFill>
                  <a:srgbClr val="FF0000"/>
                </a:solidFill>
              </a:rPr>
              <a:t>Testing</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0200" y="1676400"/>
            <a:ext cx="6248400" cy="1771897"/>
          </a:xfrm>
          <a:prstGeom prst="rect">
            <a:avLst/>
          </a:prstGeom>
        </p:spPr>
      </p:pic>
      <p:sp>
        <p:nvSpPr>
          <p:cNvPr id="5" name="TextBox 4"/>
          <p:cNvSpPr txBox="1"/>
          <p:nvPr/>
        </p:nvSpPr>
        <p:spPr>
          <a:xfrm>
            <a:off x="1524000" y="3940670"/>
            <a:ext cx="6400800" cy="923330"/>
          </a:xfrm>
          <a:prstGeom prst="rect">
            <a:avLst/>
          </a:prstGeom>
          <a:noFill/>
        </p:spPr>
        <p:txBody>
          <a:bodyPr wrap="square" rtlCol="0">
            <a:spAutoFit/>
          </a:bodyPr>
          <a:lstStyle/>
          <a:p>
            <a:r>
              <a:rPr lang="en-US" dirty="0" smtClean="0"/>
              <a:t>Integration tests will validate that the different components of your application like a </a:t>
            </a:r>
            <a:r>
              <a:rPr lang="en-US" dirty="0"/>
              <a:t>database, restful service</a:t>
            </a:r>
            <a:r>
              <a:rPr lang="en-US" dirty="0" smtClean="0"/>
              <a:t>, or a message </a:t>
            </a:r>
            <a:r>
              <a:rPr lang="en-US" dirty="0"/>
              <a:t>bus</a:t>
            </a:r>
            <a:r>
              <a:rPr lang="en-US" dirty="0" smtClean="0"/>
              <a:t>, work with each other as expected.</a:t>
            </a:r>
            <a:endParaRPr lang="en-US" dirty="0"/>
          </a:p>
        </p:txBody>
      </p:sp>
    </p:spTree>
    <p:extLst>
      <p:ext uri="{BB962C8B-B14F-4D97-AF65-F5344CB8AC3E}">
        <p14:creationId xmlns:p14="http://schemas.microsoft.com/office/powerpoint/2010/main" val="3019971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End to End Testing</a:t>
            </a:r>
            <a:endParaRPr lang="en-US" dirty="0"/>
          </a:p>
        </p:txBody>
      </p:sp>
      <p:sp>
        <p:nvSpPr>
          <p:cNvPr id="3" name="Content Placeholder 2"/>
          <p:cNvSpPr>
            <a:spLocks noGrp="1"/>
          </p:cNvSpPr>
          <p:nvPr>
            <p:ph idx="1"/>
          </p:nvPr>
        </p:nvSpPr>
        <p:spPr>
          <a:xfrm>
            <a:off x="838200" y="5562600"/>
            <a:ext cx="7391400" cy="609587"/>
          </a:xfrm>
        </p:spPr>
        <p:txBody>
          <a:bodyPr/>
          <a:lstStyle/>
          <a:p>
            <a:pPr marL="0" indent="0">
              <a:buNone/>
            </a:pPr>
            <a:r>
              <a:rPr lang="en-US" dirty="0">
                <a:solidFill>
                  <a:srgbClr val="FF0000"/>
                </a:solidFill>
              </a:rPr>
              <a:t>Click to see how a team at Chase does </a:t>
            </a:r>
            <a:r>
              <a:rPr lang="en-US" dirty="0" smtClean="0">
                <a:solidFill>
                  <a:srgbClr val="FF0000"/>
                </a:solidFill>
              </a:rPr>
              <a:t>End to End </a:t>
            </a:r>
            <a:r>
              <a:rPr lang="en-US" dirty="0">
                <a:solidFill>
                  <a:srgbClr val="FF0000"/>
                </a:solidFill>
              </a:rPr>
              <a:t>Testing</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1600200"/>
            <a:ext cx="4353533" cy="1867161"/>
          </a:xfrm>
          <a:prstGeom prst="rect">
            <a:avLst/>
          </a:prstGeom>
        </p:spPr>
      </p:pic>
      <p:sp>
        <p:nvSpPr>
          <p:cNvPr id="5" name="TextBox 4"/>
          <p:cNvSpPr txBox="1"/>
          <p:nvPr/>
        </p:nvSpPr>
        <p:spPr>
          <a:xfrm>
            <a:off x="1338566" y="3657600"/>
            <a:ext cx="6248400" cy="923330"/>
          </a:xfrm>
          <a:prstGeom prst="rect">
            <a:avLst/>
          </a:prstGeom>
          <a:noFill/>
        </p:spPr>
        <p:txBody>
          <a:bodyPr wrap="square" rtlCol="0">
            <a:spAutoFit/>
          </a:bodyPr>
          <a:lstStyle/>
          <a:p>
            <a:r>
              <a:rPr lang="en-US" dirty="0"/>
              <a:t>End to end tests give you the greatest confidence when you need to decide if your software is working or not. For many applications, this means user interface testing.</a:t>
            </a:r>
          </a:p>
        </p:txBody>
      </p:sp>
    </p:spTree>
    <p:extLst>
      <p:ext uri="{BB962C8B-B14F-4D97-AF65-F5344CB8AC3E}">
        <p14:creationId xmlns:p14="http://schemas.microsoft.com/office/powerpoint/2010/main" val="621059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5788" y="504394"/>
            <a:ext cx="7478568" cy="540684"/>
          </a:xfrm>
        </p:spPr>
        <p:txBody>
          <a:bodyPr/>
          <a:lstStyle/>
          <a:p>
            <a:pPr algn="l"/>
            <a:r>
              <a:rPr lang="en-US" sz="3600" dirty="0" smtClean="0">
                <a:solidFill>
                  <a:srgbClr val="FF0000"/>
                </a:solidFill>
              </a:rPr>
              <a:t>Testing Frameworks</a:t>
            </a:r>
            <a:endParaRPr lang="en-US" sz="3600" dirty="0">
              <a:solidFill>
                <a:srgbClr val="FF0000"/>
              </a:solidFill>
            </a:endParaRPr>
          </a:p>
        </p:txBody>
      </p:sp>
      <p:sp>
        <p:nvSpPr>
          <p:cNvPr id="15" name="Rectangle 14"/>
          <p:cNvSpPr/>
          <p:nvPr/>
        </p:nvSpPr>
        <p:spPr>
          <a:xfrm>
            <a:off x="689162" y="1664074"/>
            <a:ext cx="8094899" cy="458972"/>
          </a:xfrm>
          <a:prstGeom prst="rect">
            <a:avLst/>
          </a:prstGeom>
        </p:spPr>
        <p:txBody>
          <a:bodyPr wrap="square">
            <a:spAutoFit/>
          </a:bodyPr>
          <a:lstStyle/>
          <a:p>
            <a:pPr algn="just" defTabSz="605125">
              <a:lnSpc>
                <a:spcPct val="150000"/>
              </a:lnSpc>
            </a:pPr>
            <a:r>
              <a:rPr lang="en-US" sz="794" dirty="0">
                <a:solidFill>
                  <a:schemeClr val="bg1">
                    <a:lumMod val="50000"/>
                  </a:schemeClr>
                </a:solidFill>
                <a:latin typeface="Segoe UI"/>
              </a:rPr>
              <a:t>Open source software drives development in JPMC,  and testing follows suit.  No single or set of solutions will work for everyone.  Teams need to spend as much time deciding on their testing frameworks as they do in their application’s.</a:t>
            </a:r>
          </a:p>
        </p:txBody>
      </p:sp>
      <p:sp>
        <p:nvSpPr>
          <p:cNvPr id="8" name="TextBox 7"/>
          <p:cNvSpPr txBox="1"/>
          <p:nvPr/>
        </p:nvSpPr>
        <p:spPr>
          <a:xfrm>
            <a:off x="5667954" y="2584989"/>
            <a:ext cx="1499128" cy="275588"/>
          </a:xfrm>
          <a:prstGeom prst="rect">
            <a:avLst/>
          </a:prstGeom>
          <a:noFill/>
        </p:spPr>
        <p:txBody>
          <a:bodyPr wrap="none" rtlCol="0">
            <a:spAutoFit/>
          </a:bodyPr>
          <a:lstStyle/>
          <a:p>
            <a:r>
              <a:rPr lang="en-US" sz="1191" dirty="0"/>
              <a:t>Look and Feel testing</a:t>
            </a:r>
          </a:p>
        </p:txBody>
      </p:sp>
      <p:sp>
        <p:nvSpPr>
          <p:cNvPr id="44" name="TextBox 43"/>
          <p:cNvSpPr txBox="1"/>
          <p:nvPr/>
        </p:nvSpPr>
        <p:spPr>
          <a:xfrm>
            <a:off x="2810470" y="4953899"/>
            <a:ext cx="1080745" cy="275588"/>
          </a:xfrm>
          <a:prstGeom prst="rect">
            <a:avLst/>
          </a:prstGeom>
          <a:noFill/>
        </p:spPr>
        <p:txBody>
          <a:bodyPr wrap="none" rtlCol="0">
            <a:spAutoFit/>
          </a:bodyPr>
          <a:lstStyle/>
          <a:p>
            <a:r>
              <a:rPr lang="en-US" sz="1191" dirty="0"/>
              <a:t>Mobile testing</a:t>
            </a:r>
          </a:p>
        </p:txBody>
      </p:sp>
      <p:pic>
        <p:nvPicPr>
          <p:cNvPr id="2052"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03456" y="4140609"/>
            <a:ext cx="273038" cy="2933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 name="TextBox 45"/>
          <p:cNvSpPr txBox="1"/>
          <p:nvPr/>
        </p:nvSpPr>
        <p:spPr>
          <a:xfrm>
            <a:off x="7192267" y="4372899"/>
            <a:ext cx="1263487" cy="275588"/>
          </a:xfrm>
          <a:prstGeom prst="rect">
            <a:avLst/>
          </a:prstGeom>
          <a:noFill/>
        </p:spPr>
        <p:txBody>
          <a:bodyPr wrap="none" rtlCol="0">
            <a:spAutoFit/>
          </a:bodyPr>
          <a:lstStyle/>
          <a:p>
            <a:r>
              <a:rPr lang="en-US" sz="1191" dirty="0"/>
              <a:t>JavaScript testing</a:t>
            </a:r>
          </a:p>
        </p:txBody>
      </p:sp>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8152" y="4621688"/>
            <a:ext cx="1090472" cy="340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 name="TextBox 47"/>
          <p:cNvSpPr txBox="1"/>
          <p:nvPr/>
        </p:nvSpPr>
        <p:spPr>
          <a:xfrm>
            <a:off x="4463348" y="4948767"/>
            <a:ext cx="1762021" cy="275588"/>
          </a:xfrm>
          <a:prstGeom prst="rect">
            <a:avLst/>
          </a:prstGeom>
          <a:noFill/>
        </p:spPr>
        <p:txBody>
          <a:bodyPr wrap="none" rtlCol="0">
            <a:spAutoFit/>
          </a:bodyPr>
          <a:lstStyle/>
          <a:p>
            <a:r>
              <a:rPr lang="en-US" sz="1191" dirty="0"/>
              <a:t>Acceptance (BDD) testing</a:t>
            </a:r>
          </a:p>
        </p:txBody>
      </p:sp>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6030" y="2319618"/>
            <a:ext cx="989619" cy="4853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0" name="TextBox 49"/>
          <p:cNvSpPr txBox="1"/>
          <p:nvPr/>
        </p:nvSpPr>
        <p:spPr>
          <a:xfrm>
            <a:off x="3866029" y="2794983"/>
            <a:ext cx="1446230" cy="275588"/>
          </a:xfrm>
          <a:prstGeom prst="rect">
            <a:avLst/>
          </a:prstGeom>
          <a:noFill/>
        </p:spPr>
        <p:txBody>
          <a:bodyPr wrap="none" rtlCol="0">
            <a:spAutoFit/>
          </a:bodyPr>
          <a:lstStyle/>
          <a:p>
            <a:r>
              <a:rPr lang="en-US" sz="1191" dirty="0"/>
              <a:t>Performance testing</a:t>
            </a:r>
          </a:p>
        </p:txBody>
      </p:sp>
      <p:pic>
        <p:nvPicPr>
          <p:cNvPr id="2055"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3226" y="2663119"/>
            <a:ext cx="655544" cy="2622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2" name="TextBox 51"/>
          <p:cNvSpPr txBox="1"/>
          <p:nvPr/>
        </p:nvSpPr>
        <p:spPr>
          <a:xfrm>
            <a:off x="1019087" y="3063877"/>
            <a:ext cx="909223" cy="275588"/>
          </a:xfrm>
          <a:prstGeom prst="rect">
            <a:avLst/>
          </a:prstGeom>
          <a:noFill/>
        </p:spPr>
        <p:txBody>
          <a:bodyPr wrap="none" rtlCol="0">
            <a:spAutoFit/>
          </a:bodyPr>
          <a:lstStyle/>
          <a:p>
            <a:r>
              <a:rPr lang="en-US" sz="1191" dirty="0"/>
              <a:t>Unit testing</a:t>
            </a:r>
          </a:p>
        </p:txBody>
      </p:sp>
      <p:pic>
        <p:nvPicPr>
          <p:cNvPr id="2056"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67316" y="2992719"/>
            <a:ext cx="480983" cy="4179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4" name="TextBox 53"/>
          <p:cNvSpPr txBox="1"/>
          <p:nvPr/>
        </p:nvSpPr>
        <p:spPr>
          <a:xfrm>
            <a:off x="7437906" y="3357386"/>
            <a:ext cx="1571264" cy="275588"/>
          </a:xfrm>
          <a:prstGeom prst="rect">
            <a:avLst/>
          </a:prstGeom>
          <a:noFill/>
        </p:spPr>
        <p:txBody>
          <a:bodyPr wrap="none" rtlCol="0">
            <a:spAutoFit/>
          </a:bodyPr>
          <a:lstStyle/>
          <a:p>
            <a:r>
              <a:rPr lang="en-US" sz="1191" dirty="0"/>
              <a:t>BDD JavaScript testing</a:t>
            </a:r>
          </a:p>
        </p:txBody>
      </p:sp>
      <p:pic>
        <p:nvPicPr>
          <p:cNvPr id="2057" name="Picture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352377" y="3413380"/>
            <a:ext cx="317430" cy="2460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6" name="TextBox 55"/>
          <p:cNvSpPr txBox="1"/>
          <p:nvPr/>
        </p:nvSpPr>
        <p:spPr>
          <a:xfrm>
            <a:off x="5825635" y="3660219"/>
            <a:ext cx="1585690" cy="275588"/>
          </a:xfrm>
          <a:prstGeom prst="rect">
            <a:avLst/>
          </a:prstGeom>
          <a:noFill/>
        </p:spPr>
        <p:txBody>
          <a:bodyPr wrap="none" rtlCol="0">
            <a:spAutoFit/>
          </a:bodyPr>
          <a:lstStyle/>
          <a:p>
            <a:r>
              <a:rPr lang="en-US" sz="1191" dirty="0"/>
              <a:t>JavaScript Test Runner</a:t>
            </a:r>
          </a:p>
        </p:txBody>
      </p:sp>
      <p:pic>
        <p:nvPicPr>
          <p:cNvPr id="2058"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411325" y="2209503"/>
            <a:ext cx="657301" cy="180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8" name="TextBox 57"/>
          <p:cNvSpPr txBox="1"/>
          <p:nvPr/>
        </p:nvSpPr>
        <p:spPr>
          <a:xfrm>
            <a:off x="7162506" y="2348115"/>
            <a:ext cx="1976823" cy="275588"/>
          </a:xfrm>
          <a:prstGeom prst="rect">
            <a:avLst/>
          </a:prstGeom>
          <a:noFill/>
        </p:spPr>
        <p:txBody>
          <a:bodyPr wrap="none" rtlCol="0">
            <a:spAutoFit/>
          </a:bodyPr>
          <a:lstStyle/>
          <a:p>
            <a:r>
              <a:rPr lang="en-US" sz="1191" dirty="0"/>
              <a:t>End-to-End AngularJS testing</a:t>
            </a:r>
          </a:p>
        </p:txBody>
      </p:sp>
      <p:pic>
        <p:nvPicPr>
          <p:cNvPr id="2060" name="Picture 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67329" y="4734775"/>
            <a:ext cx="769004" cy="2332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1"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37906" y="4822601"/>
            <a:ext cx="838340" cy="2206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3" name="TextBox 62"/>
          <p:cNvSpPr txBox="1"/>
          <p:nvPr/>
        </p:nvSpPr>
        <p:spPr>
          <a:xfrm>
            <a:off x="7176441" y="5043217"/>
            <a:ext cx="1361270" cy="275588"/>
          </a:xfrm>
          <a:prstGeom prst="rect">
            <a:avLst/>
          </a:prstGeom>
          <a:noFill/>
        </p:spPr>
        <p:txBody>
          <a:bodyPr wrap="none" rtlCol="0">
            <a:spAutoFit/>
          </a:bodyPr>
          <a:lstStyle/>
          <a:p>
            <a:r>
              <a:rPr lang="en-US" sz="1191" dirty="0"/>
              <a:t>Acceptance testing</a:t>
            </a:r>
          </a:p>
        </p:txBody>
      </p:sp>
      <p:pic>
        <p:nvPicPr>
          <p:cNvPr id="2066" name="Picture 18"/>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239703" y="4636568"/>
            <a:ext cx="598814" cy="2294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2" name="TextBox 71"/>
          <p:cNvSpPr txBox="1"/>
          <p:nvPr/>
        </p:nvSpPr>
        <p:spPr>
          <a:xfrm>
            <a:off x="928902" y="5011978"/>
            <a:ext cx="1087157" cy="275588"/>
          </a:xfrm>
          <a:prstGeom prst="rect">
            <a:avLst/>
          </a:prstGeom>
          <a:noFill/>
        </p:spPr>
        <p:txBody>
          <a:bodyPr wrap="none" rtlCol="0">
            <a:spAutoFit/>
          </a:bodyPr>
          <a:lstStyle/>
          <a:p>
            <a:r>
              <a:rPr lang="en-US" sz="1191" dirty="0"/>
              <a:t>Service testing</a:t>
            </a:r>
          </a:p>
        </p:txBody>
      </p:sp>
      <p:pic>
        <p:nvPicPr>
          <p:cNvPr id="2067" name="Picture 19"/>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726431" y="3292611"/>
            <a:ext cx="258436" cy="222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4" name="TextBox 73"/>
          <p:cNvSpPr txBox="1"/>
          <p:nvPr/>
        </p:nvSpPr>
        <p:spPr>
          <a:xfrm>
            <a:off x="4309428" y="3522035"/>
            <a:ext cx="1157689" cy="275588"/>
          </a:xfrm>
          <a:prstGeom prst="rect">
            <a:avLst/>
          </a:prstGeom>
          <a:noFill/>
        </p:spPr>
        <p:txBody>
          <a:bodyPr wrap="none" rtlCol="0">
            <a:spAutoFit/>
          </a:bodyPr>
          <a:lstStyle/>
          <a:p>
            <a:r>
              <a:rPr lang="en-US" sz="1191" dirty="0"/>
              <a:t>Browser testing</a:t>
            </a:r>
          </a:p>
        </p:txBody>
      </p:sp>
      <p:pic>
        <p:nvPicPr>
          <p:cNvPr id="2068" name="Picture 2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4761" y="3401923"/>
            <a:ext cx="811569" cy="2183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6" name="TextBox 75"/>
          <p:cNvSpPr txBox="1"/>
          <p:nvPr/>
        </p:nvSpPr>
        <p:spPr>
          <a:xfrm>
            <a:off x="2501861" y="3587455"/>
            <a:ext cx="1361270" cy="275588"/>
          </a:xfrm>
          <a:prstGeom prst="rect">
            <a:avLst/>
          </a:prstGeom>
          <a:noFill/>
        </p:spPr>
        <p:txBody>
          <a:bodyPr wrap="none" rtlCol="0">
            <a:spAutoFit/>
          </a:bodyPr>
          <a:lstStyle/>
          <a:p>
            <a:r>
              <a:rPr lang="en-US" sz="1191" dirty="0"/>
              <a:t>Thick Client testing</a:t>
            </a:r>
          </a:p>
        </p:txBody>
      </p:sp>
      <p:pic>
        <p:nvPicPr>
          <p:cNvPr id="2069" name="Picture 21"/>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51842" y="2309705"/>
            <a:ext cx="511226" cy="25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0" name="Picture 2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37114" y="4463898"/>
            <a:ext cx="562947" cy="2528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1" name="Picture 23"/>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280979" y="3636367"/>
            <a:ext cx="383002" cy="3603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0" name="TextBox 79"/>
          <p:cNvSpPr txBox="1"/>
          <p:nvPr/>
        </p:nvSpPr>
        <p:spPr>
          <a:xfrm>
            <a:off x="925801" y="4087454"/>
            <a:ext cx="1226618" cy="275588"/>
          </a:xfrm>
          <a:prstGeom prst="rect">
            <a:avLst/>
          </a:prstGeom>
          <a:noFill/>
        </p:spPr>
        <p:txBody>
          <a:bodyPr wrap="none" rtlCol="0">
            <a:spAutoFit/>
          </a:bodyPr>
          <a:lstStyle/>
          <a:p>
            <a:r>
              <a:rPr lang="en-US" sz="1191" dirty="0"/>
              <a:t>Mutation testing</a:t>
            </a:r>
          </a:p>
        </p:txBody>
      </p:sp>
      <p:pic>
        <p:nvPicPr>
          <p:cNvPr id="2072" name="Picture 24"/>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19087" y="4880917"/>
            <a:ext cx="1040046" cy="162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3" name="Picture 25"/>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653742" y="4552101"/>
            <a:ext cx="414498" cy="1599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4" name="Picture 26"/>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419927" y="2360886"/>
            <a:ext cx="503068" cy="2294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4" name="TextBox 83"/>
          <p:cNvSpPr txBox="1"/>
          <p:nvPr/>
        </p:nvSpPr>
        <p:spPr>
          <a:xfrm>
            <a:off x="2379857" y="2562170"/>
            <a:ext cx="715260" cy="275588"/>
          </a:xfrm>
          <a:prstGeom prst="rect">
            <a:avLst/>
          </a:prstGeom>
          <a:noFill/>
        </p:spPr>
        <p:txBody>
          <a:bodyPr wrap="none" rtlCol="0">
            <a:spAutoFit/>
          </a:bodyPr>
          <a:lstStyle/>
          <a:p>
            <a:r>
              <a:rPr lang="en-US" sz="1191" dirty="0"/>
              <a:t>Mocking</a:t>
            </a:r>
          </a:p>
        </p:txBody>
      </p:sp>
      <p:pic>
        <p:nvPicPr>
          <p:cNvPr id="2075" name="Picture 27"/>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5704712" y="2403871"/>
            <a:ext cx="1295330" cy="2080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6" name="TextBox 85"/>
          <p:cNvSpPr txBox="1"/>
          <p:nvPr/>
        </p:nvSpPr>
        <p:spPr>
          <a:xfrm>
            <a:off x="3624768" y="6330682"/>
            <a:ext cx="2223686" cy="275588"/>
          </a:xfrm>
          <a:prstGeom prst="rect">
            <a:avLst/>
          </a:prstGeom>
          <a:noFill/>
        </p:spPr>
        <p:txBody>
          <a:bodyPr wrap="none" rtlCol="0">
            <a:spAutoFit/>
          </a:bodyPr>
          <a:lstStyle/>
          <a:p>
            <a:r>
              <a:rPr lang="en-US" sz="1191" b="1" dirty="0"/>
              <a:t>Note</a:t>
            </a:r>
            <a:r>
              <a:rPr lang="en-US" sz="1191" dirty="0"/>
              <a:t>: Not all tools are displayed.</a:t>
            </a:r>
          </a:p>
        </p:txBody>
      </p:sp>
    </p:spTree>
    <p:extLst>
      <p:ext uri="{BB962C8B-B14F-4D97-AF65-F5344CB8AC3E}">
        <p14:creationId xmlns:p14="http://schemas.microsoft.com/office/powerpoint/2010/main" val="67270108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Appendix</a:t>
            </a:r>
            <a:endParaRPr lang="en-US" dirty="0"/>
          </a:p>
        </p:txBody>
      </p:sp>
      <p:sp>
        <p:nvSpPr>
          <p:cNvPr id="3" name="Content Placeholder 2"/>
          <p:cNvSpPr>
            <a:spLocks noGrp="1"/>
          </p:cNvSpPr>
          <p:nvPr>
            <p:ph idx="1"/>
          </p:nvPr>
        </p:nvSpPr>
        <p:spPr/>
        <p:txBody>
          <a:bodyPr/>
          <a:lstStyle/>
          <a:p>
            <a:r>
              <a:rPr lang="en-US" dirty="0" smtClean="0"/>
              <a:t>Go/</a:t>
            </a:r>
            <a:r>
              <a:rPr lang="en-US" dirty="0" err="1" smtClean="0"/>
              <a:t>techprimers</a:t>
            </a:r>
            <a:endParaRPr lang="en-US" dirty="0" smtClean="0"/>
          </a:p>
          <a:p>
            <a:r>
              <a:rPr lang="en-US" dirty="0" smtClean="0"/>
              <a:t>Go/</a:t>
            </a:r>
            <a:r>
              <a:rPr lang="en-US" dirty="0" err="1" smtClean="0"/>
              <a:t>pluralsight</a:t>
            </a:r>
            <a:endParaRPr lang="en-US" dirty="0" smtClean="0"/>
          </a:p>
          <a:p>
            <a:r>
              <a:rPr lang="en-US" dirty="0" smtClean="0"/>
              <a:t>Go/learning</a:t>
            </a:r>
          </a:p>
          <a:p>
            <a:endParaRPr lang="en-US" dirty="0"/>
          </a:p>
        </p:txBody>
      </p:sp>
    </p:spTree>
    <p:extLst>
      <p:ext uri="{BB962C8B-B14F-4D97-AF65-F5344CB8AC3E}">
        <p14:creationId xmlns:p14="http://schemas.microsoft.com/office/powerpoint/2010/main" val="2272108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p:txBody>
          <a:bodyPr/>
          <a:lstStyle/>
          <a:p>
            <a:pPr marL="0" indent="0">
              <a:buNone/>
            </a:pPr>
            <a:r>
              <a:rPr lang="en-US" b="1" dirty="0"/>
              <a:t>Testing Overview Facilitator Guide:</a:t>
            </a:r>
            <a:endParaRPr lang="en-US" dirty="0"/>
          </a:p>
          <a:p>
            <a:pPr marL="0" indent="0">
              <a:buNone/>
            </a:pPr>
            <a:r>
              <a:rPr lang="en-US" sz="1400" dirty="0"/>
              <a:t> </a:t>
            </a:r>
          </a:p>
          <a:p>
            <a:pPr marL="0" indent="0">
              <a:buNone/>
            </a:pPr>
            <a:r>
              <a:rPr lang="en-US" sz="1400" dirty="0"/>
              <a:t>Intro:</a:t>
            </a:r>
          </a:p>
          <a:p>
            <a:pPr lvl="0"/>
            <a:r>
              <a:rPr lang="en-US" sz="1400" dirty="0"/>
              <a:t>Start off by asking the class what testing experience they have and ask a small number of people to elaborate on their experiences.</a:t>
            </a:r>
          </a:p>
          <a:p>
            <a:pPr marL="0" indent="0">
              <a:buNone/>
            </a:pPr>
            <a:r>
              <a:rPr lang="en-US" sz="1400" dirty="0"/>
              <a:t> </a:t>
            </a:r>
          </a:p>
          <a:p>
            <a:pPr marL="0" indent="0">
              <a:buNone/>
            </a:pPr>
            <a:r>
              <a:rPr lang="en-US" sz="1400" dirty="0"/>
              <a:t>Agenda:</a:t>
            </a:r>
          </a:p>
          <a:p>
            <a:pPr lvl="0"/>
            <a:r>
              <a:rPr lang="en-US" sz="1400" dirty="0"/>
              <a:t>Go over the course content</a:t>
            </a:r>
          </a:p>
          <a:p>
            <a:endParaRPr lang="en-US" sz="1400" dirty="0"/>
          </a:p>
          <a:p>
            <a:pPr marL="0" indent="0">
              <a:buNone/>
            </a:pPr>
            <a:r>
              <a:rPr lang="en-US" sz="1400" dirty="0"/>
              <a:t>Testing:</a:t>
            </a:r>
          </a:p>
          <a:p>
            <a:pPr lvl="0"/>
            <a:r>
              <a:rPr lang="en-US" sz="1400" dirty="0"/>
              <a:t>Practice of validating your source code is working as intended.</a:t>
            </a:r>
          </a:p>
          <a:p>
            <a:pPr lvl="0"/>
            <a:r>
              <a:rPr lang="en-US" sz="1400" dirty="0"/>
              <a:t>With the move to Agile and T-Shaped Developers, dedicated testing teams are starting to dissolve and the responsibility of testing belongs to the App Dev team as a whole. Everyone codes and everyone tests.</a:t>
            </a:r>
          </a:p>
          <a:p>
            <a:pPr lvl="0"/>
            <a:r>
              <a:rPr lang="en-US" sz="1400" dirty="0"/>
              <a:t>Test Coverage is a complicated and big topic. We will not be able to cover the wide scope of testing in this session. You can look forward to an additional Technical Theme Day around testing where you will get a hands-on and in-depth look at testing.</a:t>
            </a:r>
          </a:p>
          <a:p>
            <a:endParaRPr lang="en-US" dirty="0"/>
          </a:p>
        </p:txBody>
      </p:sp>
    </p:spTree>
    <p:extLst>
      <p:ext uri="{BB962C8B-B14F-4D97-AF65-F5344CB8AC3E}">
        <p14:creationId xmlns:p14="http://schemas.microsoft.com/office/powerpoint/2010/main" val="14038236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p:txBody>
          <a:bodyPr/>
          <a:lstStyle/>
          <a:p>
            <a:pPr marL="0" indent="0">
              <a:buNone/>
            </a:pPr>
            <a:r>
              <a:rPr lang="en-US" sz="1400" dirty="0"/>
              <a:t>T</a:t>
            </a:r>
            <a:r>
              <a:rPr lang="en-US" sz="1400" dirty="0" smtClean="0"/>
              <a:t>esting </a:t>
            </a:r>
            <a:r>
              <a:rPr lang="en-US" sz="1400" dirty="0"/>
              <a:t>Pipeline:</a:t>
            </a:r>
          </a:p>
          <a:p>
            <a:pPr lvl="0"/>
            <a:r>
              <a:rPr lang="en-US" sz="1400" b="1" dirty="0"/>
              <a:t>Vision: </a:t>
            </a:r>
            <a:r>
              <a:rPr lang="en-US" sz="1400" dirty="0"/>
              <a:t>Assemble a cohesive end-to-end set of quality and testing tools along with supporting enablers that optimizes application quality and software delivery efficiency </a:t>
            </a:r>
            <a:r>
              <a:rPr lang="en-US" sz="1400" b="1" dirty="0"/>
              <a:t>for JPMC Global Technology</a:t>
            </a:r>
            <a:endParaRPr lang="en-US" sz="1400" dirty="0"/>
          </a:p>
          <a:p>
            <a:pPr lvl="0"/>
            <a:r>
              <a:rPr lang="en-US" sz="1400" dirty="0"/>
              <a:t>Give a high level overview of the build/deploy pipeline so that you can explain how testing fits into that pipeline.</a:t>
            </a:r>
          </a:p>
          <a:p>
            <a:pPr lvl="1"/>
            <a:r>
              <a:rPr lang="en-US" sz="1400" dirty="0"/>
              <a:t>The order of events is this: Check in Code to Bitbucket -&gt; Test Code -&gt; Build &amp; Package Code -&gt; Deploy Code. Testing can be done at various stages in this pipeline.</a:t>
            </a:r>
          </a:p>
          <a:p>
            <a:pPr lvl="0"/>
            <a:r>
              <a:rPr lang="en-US" sz="1400" dirty="0"/>
              <a:t>Developers should be writing and running unit tests of their code locally before committing the code to bitbucket.</a:t>
            </a:r>
          </a:p>
          <a:p>
            <a:pPr lvl="0"/>
            <a:r>
              <a:rPr lang="en-US" sz="1400" dirty="0"/>
              <a:t>Once those Unit Tests are done, you can run the rest of your automated test suite, like integration tests, UI/End-to-end tests, and acceptance tests.</a:t>
            </a:r>
          </a:p>
          <a:p>
            <a:pPr lvl="0"/>
            <a:r>
              <a:rPr lang="en-US" sz="1400" dirty="0"/>
              <a:t>Regression testing should be highly automated as part of the CI/CD pipeline</a:t>
            </a:r>
          </a:p>
          <a:p>
            <a:pPr lvl="0"/>
            <a:r>
              <a:rPr lang="en-US" sz="1400" dirty="0"/>
              <a:t>Not all tests can be automated to run in the pipeline. Some tests require a human touch to validate input, like Exploratory Tests</a:t>
            </a:r>
          </a:p>
          <a:p>
            <a:pPr marL="0" indent="0">
              <a:buNone/>
            </a:pPr>
            <a:endParaRPr lang="en-US" sz="1400" dirty="0"/>
          </a:p>
          <a:p>
            <a:endParaRPr lang="en-US" dirty="0"/>
          </a:p>
        </p:txBody>
      </p:sp>
    </p:spTree>
    <p:extLst>
      <p:ext uri="{BB962C8B-B14F-4D97-AF65-F5344CB8AC3E}">
        <p14:creationId xmlns:p14="http://schemas.microsoft.com/office/powerpoint/2010/main" val="536955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marL="0" indent="0">
              <a:buNone/>
            </a:pPr>
            <a:r>
              <a:rPr lang="en-US" sz="1400" dirty="0"/>
              <a:t>The Testing Universe</a:t>
            </a:r>
          </a:p>
          <a:p>
            <a:pPr lvl="0"/>
            <a:r>
              <a:rPr lang="en-US" sz="1400" dirty="0"/>
              <a:t>Different types of tests provide different benefits, each of these also have their own set of drawbacks.</a:t>
            </a:r>
          </a:p>
          <a:p>
            <a:pPr lvl="0"/>
            <a:r>
              <a:rPr lang="en-US" sz="1400" dirty="0"/>
              <a:t>All tests can be automated however, for certain types of testing, the benefits do not outweigh the effort of creating those tests. As a team you will need to decide what level of effort to put into various tests. The pyramid demonstrates how much effort you should be placing into different types of tests.</a:t>
            </a:r>
          </a:p>
          <a:p>
            <a:pPr lvl="0"/>
            <a:r>
              <a:rPr lang="en-US" sz="1400" dirty="0"/>
              <a:t>As you go up the testing pyramid, the tests become more brittle, or more likely to fail. This is because as you go up the pyramid, the complexity of the higher level tests increases as well</a:t>
            </a:r>
            <a:r>
              <a:rPr lang="en-US" sz="1400" dirty="0" smtClean="0"/>
              <a:t>.</a:t>
            </a:r>
            <a:r>
              <a:rPr lang="en-US" sz="1400" dirty="0"/>
              <a:t> </a:t>
            </a:r>
          </a:p>
          <a:p>
            <a:pPr marL="0" indent="0">
              <a:buNone/>
            </a:pPr>
            <a:r>
              <a:rPr lang="en-US" sz="1400" dirty="0"/>
              <a:t>The Testing Universe 2:</a:t>
            </a:r>
          </a:p>
          <a:p>
            <a:pPr lvl="0"/>
            <a:r>
              <a:rPr lang="en-US" sz="1400" dirty="0"/>
              <a:t>When people think of testing, they are usually thinking about Functional testing, or testing how your application works. However, functional testing is just one slice of the testing pie. There are many other types of testing that are important for your application’s success.</a:t>
            </a:r>
          </a:p>
          <a:p>
            <a:pPr lvl="0"/>
            <a:r>
              <a:rPr lang="en-US" sz="1400" dirty="0"/>
              <a:t>The various functional and non-functional tests can align to the types of tests seen on the pyramid in the previous slide. </a:t>
            </a:r>
          </a:p>
          <a:p>
            <a:pPr lvl="0"/>
            <a:r>
              <a:rPr lang="en-US" sz="1400" dirty="0"/>
              <a:t>Is your application secure and safe from vulnerabilities? Are your application environments running correctly? How will your application run on different types of user devices? These questions may not seem relevant when you’re developing the application, but are every bit of important as functional testing. These types of problems can be devastating to an organization if not caught. </a:t>
            </a:r>
          </a:p>
          <a:p>
            <a:pPr lvl="0"/>
            <a:r>
              <a:rPr lang="en-US" sz="1400" dirty="0"/>
              <a:t>There are so many types of testing and scanning in the software quality universe, how do you make sense of it all? How does everything fit together? How do I know my software has been tested well enough to give me confidence to deploy? How do I know when to stop testing?</a:t>
            </a:r>
          </a:p>
          <a:p>
            <a:pPr lvl="0"/>
            <a:r>
              <a:rPr lang="en-US" sz="1400" dirty="0"/>
              <a:t>Test Coverage and Code Coverage can give you a sense of how much of your application has tests. Test coverage is the percentage of requirements you have covered. Code Coverage is how many lines of code have corresponding tests.</a:t>
            </a:r>
          </a:p>
          <a:p>
            <a:pPr marL="0" indent="0">
              <a:buNone/>
            </a:pPr>
            <a:endParaRPr lang="en-US" sz="1400" dirty="0"/>
          </a:p>
          <a:p>
            <a:endParaRPr lang="en-US" dirty="0"/>
          </a:p>
        </p:txBody>
      </p:sp>
    </p:spTree>
    <p:extLst>
      <p:ext uri="{BB962C8B-B14F-4D97-AF65-F5344CB8AC3E}">
        <p14:creationId xmlns:p14="http://schemas.microsoft.com/office/powerpoint/2010/main" val="3125123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marL="0" indent="0">
              <a:buNone/>
            </a:pPr>
            <a:r>
              <a:rPr lang="en-US" sz="1400" dirty="0"/>
              <a:t>Testing @ JPMC:</a:t>
            </a:r>
          </a:p>
          <a:p>
            <a:pPr lvl="0"/>
            <a:r>
              <a:rPr lang="en-US" sz="1400" dirty="0"/>
              <a:t>Developers at JPMC are starting to adopt development styles like BDD &amp; TDD. Ask the class if they know what these are and if they know the differences between the two.</a:t>
            </a:r>
          </a:p>
          <a:p>
            <a:pPr lvl="0"/>
            <a:r>
              <a:rPr lang="en-US" sz="1400" dirty="0"/>
              <a:t>The main difference between TDD and BDD is that in BDD you are testing a specific behavior from the end user’s perspective and in TDD you create tests for functionality from a developer’s perspective.</a:t>
            </a:r>
          </a:p>
          <a:p>
            <a:pPr lvl="0"/>
            <a:r>
              <a:rPr lang="en-US" sz="1400" dirty="0"/>
              <a:t>A good test suite will have tests for the happy cases, as well as the un-happy cases.</a:t>
            </a:r>
          </a:p>
          <a:p>
            <a:pPr lvl="1"/>
            <a:r>
              <a:rPr lang="en-US" sz="1400" dirty="0"/>
              <a:t>Happy cases are tests that are written to test the standard/average input for a certain class or function. If you have a function that adds two numbers together, you would test that providing two numbers returns the correct sum. That is a happy case.</a:t>
            </a:r>
          </a:p>
          <a:p>
            <a:pPr lvl="1"/>
            <a:r>
              <a:rPr lang="en-US" sz="1400" dirty="0"/>
              <a:t>Un-Happy cases are tests that are written to test irregular inputs. For example, in our addition function, you are expecting two numbers, but what if the User passes in a number and null? You know you can’t have a null value, there usually is no way an input can be null, but you want to make sure this is tested so if it does happen you know how to handle it.</a:t>
            </a:r>
          </a:p>
          <a:p>
            <a:pPr lvl="0"/>
            <a:r>
              <a:rPr lang="en-US" sz="1400" dirty="0"/>
              <a:t>Industry guidelines are that 80% of your code should be covered by tests.  At JPMC the targets are 50% overall Unit Test Coverage and 70% Unit Test Coverage for code modified in the past 90 days.</a:t>
            </a:r>
          </a:p>
          <a:p>
            <a:pPr marL="0" indent="0">
              <a:buNone/>
            </a:pPr>
            <a:endParaRPr lang="en-US" sz="1400" dirty="0"/>
          </a:p>
          <a:p>
            <a:endParaRPr lang="en-US" sz="1400" dirty="0"/>
          </a:p>
        </p:txBody>
      </p:sp>
    </p:spTree>
    <p:extLst>
      <p:ext uri="{BB962C8B-B14F-4D97-AF65-F5344CB8AC3E}">
        <p14:creationId xmlns:p14="http://schemas.microsoft.com/office/powerpoint/2010/main" val="2511326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marL="0" indent="0">
              <a:buNone/>
            </a:pPr>
            <a:r>
              <a:rPr lang="en-US" sz="1400" dirty="0"/>
              <a:t>Integration Tests</a:t>
            </a:r>
          </a:p>
          <a:p>
            <a:pPr lvl="0"/>
            <a:r>
              <a:rPr lang="en-US" sz="1400" dirty="0"/>
              <a:t>The picture now shows data going between the service in question and the connected services &amp; databases.</a:t>
            </a:r>
          </a:p>
          <a:p>
            <a:pPr lvl="0"/>
            <a:r>
              <a:rPr lang="en-US" sz="1400" dirty="0"/>
              <a:t>During an integration test, an application’s resources are used to ensure that the functionality matches what is mocked and that the application works with the environment it is in.</a:t>
            </a:r>
          </a:p>
          <a:p>
            <a:pPr lvl="0"/>
            <a:r>
              <a:rPr lang="en-US" sz="1400" dirty="0"/>
              <a:t>Suppose you have a database, and a web UI that displays database objects. Between those two components sits a controller that will make the calls to the DB, as well as gives DB info to the front end. In an integration tests, you would test that the controller can access the DB correctly, or that the controller is providing the correct information to the front end.</a:t>
            </a:r>
          </a:p>
          <a:p>
            <a:pPr lvl="0"/>
            <a:r>
              <a:rPr lang="en-US" sz="1400" dirty="0"/>
              <a:t>Integration Tests differ from Unit Tests because of:</a:t>
            </a:r>
          </a:p>
          <a:p>
            <a:pPr lvl="1"/>
            <a:r>
              <a:rPr lang="en-US" sz="1400" dirty="0"/>
              <a:t>Encapsulation – Unit tests are encapsulated and don’t use resources outside the unit in question. Integration tests are not encapsulated, and need the other resources.</a:t>
            </a:r>
          </a:p>
          <a:p>
            <a:pPr lvl="1"/>
            <a:r>
              <a:rPr lang="en-US" sz="1400" dirty="0"/>
              <a:t>Complexity – Unit tests are supposed to be simple, easy to write, and not complex. Integration tests are complex, they require tooling and setting up different infrastructures.</a:t>
            </a:r>
          </a:p>
          <a:p>
            <a:pPr lvl="1"/>
            <a:r>
              <a:rPr lang="en-US" sz="1400" dirty="0"/>
              <a:t>Test Failure – When Unit tests fail, you know there is a bug inside the Unit in question. This leads to easy identification. With integration tests, as long as you have good unit test coverage, you don’t need to look at the code that implements the logic. The likely culprit of the error usually has to do with the environment</a:t>
            </a:r>
            <a:r>
              <a:rPr lang="en-US" sz="1400" dirty="0" smtClean="0"/>
              <a:t>.</a:t>
            </a:r>
            <a:endParaRPr lang="en-US" sz="1400" dirty="0"/>
          </a:p>
        </p:txBody>
      </p:sp>
    </p:spTree>
    <p:extLst>
      <p:ext uri="{BB962C8B-B14F-4D97-AF65-F5344CB8AC3E}">
        <p14:creationId xmlns:p14="http://schemas.microsoft.com/office/powerpoint/2010/main" val="3459553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lvl="0"/>
            <a:r>
              <a:rPr lang="en-US" sz="1400" dirty="0" smtClean="0"/>
              <a:t>Integration </a:t>
            </a:r>
            <a:r>
              <a:rPr lang="en-US" sz="1400" dirty="0"/>
              <a:t>tests can fail even if your source code is built and packaged correctly. To avoid anticipated failures of integration tests (like knowing your database is going to be down), integration tests are best run during IST, UAT, and PROD builds/deploys.</a:t>
            </a:r>
          </a:p>
          <a:p>
            <a:pPr lvl="0"/>
            <a:r>
              <a:rPr lang="en-US" sz="1400" dirty="0"/>
              <a:t>Service Tests are usually discussed in parallel with Integration Tests. Service tests are designed to specifically test that a set of components together actually implement a required feature of the application.</a:t>
            </a:r>
          </a:p>
          <a:p>
            <a:pPr lvl="0"/>
            <a:r>
              <a:rPr lang="en-US" sz="1400" dirty="0"/>
              <a:t>Integration Test Coverage (ITC) is another type of test coverage measurement.  It’s also available on Sonar.  The only difference to UTC is that the Maven </a:t>
            </a:r>
            <a:r>
              <a:rPr lang="en-US" sz="1400" dirty="0" err="1"/>
              <a:t>FailSafe</a:t>
            </a:r>
            <a:r>
              <a:rPr lang="en-US" sz="1400" dirty="0"/>
              <a:t> plugin is used instead to run the Integration Tests.</a:t>
            </a:r>
          </a:p>
          <a:p>
            <a:pPr marL="0" indent="0">
              <a:buNone/>
            </a:pPr>
            <a:endParaRPr lang="en-US" sz="1400" dirty="0"/>
          </a:p>
          <a:p>
            <a:endParaRPr lang="en-US" sz="1400" dirty="0"/>
          </a:p>
        </p:txBody>
      </p:sp>
    </p:spTree>
    <p:extLst>
      <p:ext uri="{BB962C8B-B14F-4D97-AF65-F5344CB8AC3E}">
        <p14:creationId xmlns:p14="http://schemas.microsoft.com/office/powerpoint/2010/main" val="38543942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marL="0" indent="0">
              <a:buNone/>
            </a:pPr>
            <a:r>
              <a:rPr lang="en-US" sz="1400" dirty="0"/>
              <a:t>Unit Testing</a:t>
            </a:r>
          </a:p>
          <a:p>
            <a:pPr lvl="0"/>
            <a:r>
              <a:rPr lang="en-US" sz="1400" dirty="0"/>
              <a:t>A unit test tests a single unit of your application in isolation. No other units or components of your application should be used during a unit test.</a:t>
            </a:r>
          </a:p>
          <a:p>
            <a:pPr lvl="0"/>
            <a:r>
              <a:rPr lang="en-US" sz="1400" dirty="0"/>
              <a:t>The picture shows how no inputs go into the Unit Test. Only outputs of the test.</a:t>
            </a:r>
          </a:p>
          <a:p>
            <a:pPr lvl="0"/>
            <a:r>
              <a:rPr lang="en-US" sz="1400" dirty="0"/>
              <a:t>It is common that a Unit in an application is not completely isolated from other Units. Typically you will need some additional information to make your Unit work, however because we </a:t>
            </a:r>
            <a:r>
              <a:rPr lang="en-US" sz="1400" b="1" dirty="0"/>
              <a:t>only</a:t>
            </a:r>
            <a:r>
              <a:rPr lang="en-US" sz="1400" dirty="0"/>
              <a:t> want to test the Unit in question, you need a way to simulate those other components. </a:t>
            </a:r>
            <a:r>
              <a:rPr lang="en-US" sz="1400" dirty="0" err="1"/>
              <a:t>Mockito</a:t>
            </a:r>
            <a:r>
              <a:rPr lang="en-US" sz="1400" dirty="0"/>
              <a:t> Mock Objects allow you to mock an object in your test class that is necessary for the Unit to run but isn’t a complete instance of that object.</a:t>
            </a:r>
          </a:p>
          <a:p>
            <a:pPr lvl="0"/>
            <a:r>
              <a:rPr lang="en-US" sz="1400" dirty="0"/>
              <a:t>Assertion Functions are functions that ensure that tested variables contain the expected value for those variables. If you have a function that adds two numbers together, your test would pass in two numbers and make an assertion on the expected result of that addition. If you pass in 2 and 3 you can expect the result to be 5, if it is anything but 5 then you have a problem in code</a:t>
            </a:r>
            <a:r>
              <a:rPr lang="en-US" sz="1400" dirty="0" smtClean="0"/>
              <a:t>.</a:t>
            </a:r>
            <a:endParaRPr lang="en-US" sz="1400" dirty="0"/>
          </a:p>
        </p:txBody>
      </p:sp>
    </p:spTree>
    <p:extLst>
      <p:ext uri="{BB962C8B-B14F-4D97-AF65-F5344CB8AC3E}">
        <p14:creationId xmlns:p14="http://schemas.microsoft.com/office/powerpoint/2010/main" val="537346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lvl="1"/>
            <a:r>
              <a:rPr lang="en-US" sz="1400" dirty="0" smtClean="0"/>
              <a:t>Fast </a:t>
            </a:r>
            <a:r>
              <a:rPr lang="en-US" sz="1400" dirty="0"/>
              <a:t>– If they’re not fast, developers won’t write or run them.</a:t>
            </a:r>
          </a:p>
          <a:p>
            <a:pPr lvl="1"/>
            <a:r>
              <a:rPr lang="en-US" sz="1400" dirty="0"/>
              <a:t>Isolated – If your unit test is isolated, you don’t need to concern yourself with validating interactions between units. You can focus solely on how the single unit works.</a:t>
            </a:r>
          </a:p>
          <a:p>
            <a:pPr lvl="1"/>
            <a:r>
              <a:rPr lang="en-US" sz="1400" dirty="0"/>
              <a:t>Succinct – If you can’t write a unit test easily for your unit, it’s a good sign that the code you’re testing is too complex. Unit tests need to be simple and easy.</a:t>
            </a:r>
          </a:p>
          <a:p>
            <a:pPr lvl="1"/>
            <a:r>
              <a:rPr lang="en-US" sz="1400" dirty="0"/>
              <a:t>Easy to Comprehend – This is self-explanatory. At a glance you should know what a unit test is testing for. This usually means having the test name be a short description of the test itself.</a:t>
            </a:r>
          </a:p>
          <a:p>
            <a:pPr lvl="1"/>
            <a:r>
              <a:rPr lang="en-US" sz="1400" dirty="0"/>
              <a:t>Reliable – Unit tests shouldn’t be bound by the environment they’re running in. DEV unit tests should work the same as PROD unit tests. Unit tests should work 100% of the time.</a:t>
            </a:r>
          </a:p>
          <a:p>
            <a:pPr lvl="0"/>
            <a:r>
              <a:rPr lang="en-US" sz="1400" dirty="0"/>
              <a:t>Test behavior, not implementation. If you test for implementation, you will need to edit your tests every time a change is made to the code in question. If your unit is testing behavior, you won’t need to edit a test if the implementation changes.</a:t>
            </a:r>
          </a:p>
          <a:p>
            <a:pPr lvl="0"/>
            <a:r>
              <a:rPr lang="en-US" sz="1400" dirty="0"/>
              <a:t>Don’t put logic in the unit tests. Logic creates complexity. Most unit tests verify that a single, known input, produces a single known output. State the inputs and outputs in the test directly, don’t compute them. </a:t>
            </a:r>
          </a:p>
          <a:p>
            <a:pPr lvl="0"/>
            <a:r>
              <a:rPr lang="en-US" sz="1400" dirty="0"/>
              <a:t>Unit Test Coverage (UTC) is the most common test coverage measurement. The typical way for generating these is by running your unit tests using the Maven </a:t>
            </a:r>
            <a:r>
              <a:rPr lang="en-US" sz="1400" dirty="0" err="1"/>
              <a:t>SureFire</a:t>
            </a:r>
            <a:r>
              <a:rPr lang="en-US" sz="1400" dirty="0"/>
              <a:t> plugin and having the </a:t>
            </a:r>
            <a:r>
              <a:rPr lang="en-US" sz="1400" dirty="0" err="1"/>
              <a:t>JaCoCo</a:t>
            </a:r>
            <a:r>
              <a:rPr lang="en-US" sz="1400" dirty="0"/>
              <a:t> agent instrument the code in order to produce the report.</a:t>
            </a:r>
          </a:p>
          <a:p>
            <a:pPr marL="0" indent="0">
              <a:buNone/>
            </a:pPr>
            <a:endParaRPr lang="en-US" sz="1400" dirty="0"/>
          </a:p>
          <a:p>
            <a:endParaRPr lang="en-US" sz="1400" dirty="0"/>
          </a:p>
        </p:txBody>
      </p:sp>
    </p:spTree>
    <p:extLst>
      <p:ext uri="{BB962C8B-B14F-4D97-AF65-F5344CB8AC3E}">
        <p14:creationId xmlns:p14="http://schemas.microsoft.com/office/powerpoint/2010/main" val="640035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marL="0" indent="0">
              <a:buNone/>
            </a:pPr>
            <a:endParaRPr lang="en-US" sz="1400" dirty="0"/>
          </a:p>
          <a:p>
            <a:endParaRPr lang="en-US" sz="1400" dirty="0"/>
          </a:p>
        </p:txBody>
      </p:sp>
      <p:sp>
        <p:nvSpPr>
          <p:cNvPr id="4" name="Rectangle 3"/>
          <p:cNvSpPr/>
          <p:nvPr/>
        </p:nvSpPr>
        <p:spPr>
          <a:xfrm>
            <a:off x="457200" y="1600200"/>
            <a:ext cx="8382000" cy="4801314"/>
          </a:xfrm>
          <a:prstGeom prst="rect">
            <a:avLst/>
          </a:prstGeom>
        </p:spPr>
        <p:txBody>
          <a:bodyPr wrap="square">
            <a:spAutoFit/>
          </a:bodyPr>
          <a:lstStyle/>
          <a:p>
            <a:r>
              <a:rPr lang="en-US" dirty="0"/>
              <a:t>End to End Tests</a:t>
            </a:r>
          </a:p>
          <a:p>
            <a:pPr marL="285750" lvl="0" indent="-285750">
              <a:buFont typeface="Arial" panose="020B0604020202020204" pitchFamily="34" charset="0"/>
              <a:buChar char="•"/>
            </a:pPr>
            <a:r>
              <a:rPr lang="en-US" dirty="0"/>
              <a:t>Talk about the integration testing from a service perspective (DBs external stuff) and how it’s different than integration testing of app features.</a:t>
            </a:r>
          </a:p>
          <a:p>
            <a:pPr marL="285750" lvl="0" indent="-285750">
              <a:buFont typeface="Arial" panose="020B0604020202020204" pitchFamily="34" charset="0"/>
              <a:buChar char="•"/>
            </a:pPr>
            <a:r>
              <a:rPr lang="en-US" dirty="0"/>
              <a:t>The picture shows how you will test everything from what the user sees and interacts with, to functionality underneath the hood.</a:t>
            </a:r>
          </a:p>
          <a:p>
            <a:pPr marL="285750" lvl="0" indent="-285750">
              <a:buFont typeface="Arial" panose="020B0604020202020204" pitchFamily="34" charset="0"/>
              <a:buChar char="•"/>
            </a:pPr>
            <a:r>
              <a:rPr lang="en-US" dirty="0"/>
              <a:t>End-to-end tests typically require a dedicated testing environment; examples include SIT, QA, UAT, PERF environments.</a:t>
            </a:r>
          </a:p>
          <a:p>
            <a:pPr marL="285750" lvl="0" indent="-285750">
              <a:buFont typeface="Arial" panose="020B0604020202020204" pitchFamily="34" charset="0"/>
              <a:buChar char="•"/>
            </a:pPr>
            <a:r>
              <a:rPr lang="en-US" dirty="0"/>
              <a:t>End-to-end tests generally require the most maintenance, as a change in any dependency can cause the test’s expectations not to be met.</a:t>
            </a:r>
          </a:p>
          <a:p>
            <a:pPr marL="285750" lvl="0" indent="-285750">
              <a:buFont typeface="Arial" panose="020B0604020202020204" pitchFamily="34" charset="0"/>
              <a:buChar char="•"/>
            </a:pPr>
            <a:r>
              <a:rPr lang="en-US" dirty="0"/>
              <a:t>In order to be cost effective, an end-to-end test should focus on aspects of your system that cannot be reliably evaluated with smaller tests, such as resource allocation, concurrency issues and API compatibility.</a:t>
            </a:r>
          </a:p>
          <a:p>
            <a:pPr marL="285750" lvl="0" indent="-285750">
              <a:buFont typeface="Arial" panose="020B0604020202020204" pitchFamily="34" charset="0"/>
              <a:buChar char="•"/>
            </a:pPr>
            <a:r>
              <a:rPr lang="en-US" dirty="0"/>
              <a:t>End to End tests can be fairly slow so a focused minimal set of tests is often more useful than full breadth. As a guideline, think about high-value interactions that users will have with your application and write end-to-end tests for these interactions.</a:t>
            </a:r>
          </a:p>
          <a:p>
            <a:pPr marL="285750" lvl="0" indent="-285750">
              <a:buFont typeface="Arial" panose="020B0604020202020204" pitchFamily="34" charset="0"/>
              <a:buChar char="•"/>
            </a:pPr>
            <a:r>
              <a:rPr lang="en-US" dirty="0"/>
              <a:t>For each important use case of an application, there should be a corresponding end to end test</a:t>
            </a:r>
            <a:r>
              <a:rPr lang="en-US" dirty="0" smtClean="0"/>
              <a:t>.</a:t>
            </a:r>
            <a:endParaRPr lang="en-US" dirty="0"/>
          </a:p>
        </p:txBody>
      </p:sp>
    </p:spTree>
    <p:extLst>
      <p:ext uri="{BB962C8B-B14F-4D97-AF65-F5344CB8AC3E}">
        <p14:creationId xmlns:p14="http://schemas.microsoft.com/office/powerpoint/2010/main" val="6200026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marL="0" indent="0">
              <a:buNone/>
            </a:pPr>
            <a:endParaRPr lang="en-US" sz="1400" dirty="0"/>
          </a:p>
          <a:p>
            <a:endParaRPr lang="en-US" sz="1400" dirty="0"/>
          </a:p>
        </p:txBody>
      </p:sp>
      <p:sp>
        <p:nvSpPr>
          <p:cNvPr id="4" name="Rectangle 3"/>
          <p:cNvSpPr/>
          <p:nvPr/>
        </p:nvSpPr>
        <p:spPr>
          <a:xfrm>
            <a:off x="457200" y="1600200"/>
            <a:ext cx="8382000" cy="3139321"/>
          </a:xfrm>
          <a:prstGeom prst="rect">
            <a:avLst/>
          </a:prstGeom>
        </p:spPr>
        <p:txBody>
          <a:bodyPr wrap="square">
            <a:spAutoFit/>
          </a:bodyPr>
          <a:lstStyle/>
          <a:p>
            <a:pPr marL="285750" lvl="0" indent="-285750">
              <a:buFont typeface="Arial" panose="020B0604020202020204" pitchFamily="34" charset="0"/>
              <a:buChar char="•"/>
            </a:pPr>
            <a:r>
              <a:rPr lang="en-US" dirty="0"/>
              <a:t>Focus your efforts on verifying overall system behavior instead of specific implementation details; for example, when testing login behavior, verify that the process succeeds independent of the exact messages or visual layouts, which may change frequently</a:t>
            </a:r>
          </a:p>
          <a:p>
            <a:pPr marL="285750" lvl="0" indent="-285750">
              <a:buFont typeface="Arial" panose="020B0604020202020204" pitchFamily="34" charset="0"/>
              <a:buChar char="•"/>
            </a:pPr>
            <a:r>
              <a:rPr lang="en-US" dirty="0"/>
              <a:t>Not all tests can be automated to run in the pipeline. Some tests require a human touch to validate input, like End to End tests.</a:t>
            </a:r>
          </a:p>
          <a:p>
            <a:pPr marL="285750" lvl="0" indent="-285750">
              <a:buFont typeface="Arial" panose="020B0604020202020204" pitchFamily="34" charset="0"/>
              <a:buChar char="•"/>
            </a:pPr>
            <a:r>
              <a:rPr lang="en-US" dirty="0"/>
              <a:t>Done via a UI interface or a command line interface.</a:t>
            </a:r>
          </a:p>
          <a:p>
            <a:pPr marL="285750" lvl="0" indent="-285750">
              <a:buFont typeface="Arial" panose="020B0604020202020204" pitchFamily="34" charset="0"/>
              <a:buChar char="•"/>
            </a:pPr>
            <a:r>
              <a:rPr lang="en-US" dirty="0"/>
              <a:t>In addition, Service &amp; API Testing is usually talked about with End to End testing. When testing services and APIs you are looking for vulnerabilities and flaws in regards to how your application interacts with services and APIs. You want to make sure the services and APIs are available and not faulty.</a:t>
            </a:r>
            <a:endParaRPr lang="en-US" dirty="0"/>
          </a:p>
        </p:txBody>
      </p:sp>
    </p:spTree>
    <p:extLst>
      <p:ext uri="{BB962C8B-B14F-4D97-AF65-F5344CB8AC3E}">
        <p14:creationId xmlns:p14="http://schemas.microsoft.com/office/powerpoint/2010/main" val="2710677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Facilitator Guide (notes)</a:t>
            </a:r>
            <a:endParaRPr lang="en-US" dirty="0"/>
          </a:p>
        </p:txBody>
      </p:sp>
      <p:sp>
        <p:nvSpPr>
          <p:cNvPr id="3" name="Content Placeholder 2"/>
          <p:cNvSpPr>
            <a:spLocks noGrp="1"/>
          </p:cNvSpPr>
          <p:nvPr>
            <p:ph idx="1"/>
          </p:nvPr>
        </p:nvSpPr>
        <p:spPr>
          <a:xfrm>
            <a:off x="457200" y="1371613"/>
            <a:ext cx="8229600" cy="5181587"/>
          </a:xfrm>
        </p:spPr>
        <p:txBody>
          <a:bodyPr/>
          <a:lstStyle/>
          <a:p>
            <a:pPr marL="0" indent="0">
              <a:buNone/>
            </a:pPr>
            <a:endParaRPr lang="en-US" sz="1400" dirty="0"/>
          </a:p>
          <a:p>
            <a:endParaRPr lang="en-US" sz="1400" dirty="0"/>
          </a:p>
        </p:txBody>
      </p:sp>
      <p:sp>
        <p:nvSpPr>
          <p:cNvPr id="4" name="Rectangle 3"/>
          <p:cNvSpPr/>
          <p:nvPr/>
        </p:nvSpPr>
        <p:spPr>
          <a:xfrm>
            <a:off x="457200" y="1600200"/>
            <a:ext cx="8382000" cy="1200329"/>
          </a:xfrm>
          <a:prstGeom prst="rect">
            <a:avLst/>
          </a:prstGeom>
        </p:spPr>
        <p:txBody>
          <a:bodyPr wrap="square">
            <a:spAutoFit/>
          </a:bodyPr>
          <a:lstStyle/>
          <a:p>
            <a:r>
              <a:rPr lang="en-US" dirty="0"/>
              <a:t>Testing Frameworks:</a:t>
            </a:r>
          </a:p>
          <a:p>
            <a:pPr marL="285750" lvl="0" indent="-285750">
              <a:buFont typeface="Arial" panose="020B0604020202020204" pitchFamily="34" charset="0"/>
              <a:buChar char="•"/>
            </a:pPr>
            <a:r>
              <a:rPr lang="en-US" dirty="0"/>
              <a:t>Open source software drives development in JPMC, and testing follows suit.  No single or set of solutions will work for everyone.  Teams need to spend as much time deciding on their testing frameworks as they do in their applications.</a:t>
            </a:r>
          </a:p>
        </p:txBody>
      </p:sp>
    </p:spTree>
    <p:extLst>
      <p:ext uri="{BB962C8B-B14F-4D97-AF65-F5344CB8AC3E}">
        <p14:creationId xmlns:p14="http://schemas.microsoft.com/office/powerpoint/2010/main" val="3580100476"/>
      </p:ext>
    </p:extLst>
  </p:cSld>
  <p:clrMapOvr>
    <a:masterClrMapping/>
  </p:clrMapOvr>
</p:sld>
</file>

<file path=ppt/theme/theme1.xml><?xml version="1.0" encoding="utf-8"?>
<a:theme xmlns:a="http://schemas.openxmlformats.org/drawingml/2006/main" name="Slide_Deck_Master_Template_GADP-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957B61103CD484AA436DDC545AACE9E" ma:contentTypeVersion="16" ma:contentTypeDescription="Create a new document." ma:contentTypeScope="" ma:versionID="1100637b93732c812f6dda334ed56216">
  <xsd:schema xmlns:xsd="http://www.w3.org/2001/XMLSchema" xmlns:xs="http://www.w3.org/2001/XMLSchema" xmlns:p="http://schemas.microsoft.com/office/2006/metadata/properties" xmlns:ns2="7eb31557-403a-41bb-888d-f1cbfffaf482" xmlns:ns4="90ff4d4a-0e96-48c8-bf4b-c181ad9f8021" xmlns:ns5="http://schemas.microsoft.com/sharepoint/v4" targetNamespace="http://schemas.microsoft.com/office/2006/metadata/properties" ma:root="true" ma:fieldsID="68d183b2682156de80dc7518d211ae72" ns2:_="" ns4:_="" ns5:_="">
    <xsd:import namespace="7eb31557-403a-41bb-888d-f1cbfffaf482"/>
    <xsd:import namespace="90ff4d4a-0e96-48c8-bf4b-c181ad9f8021"/>
    <xsd:import namespace="http://schemas.microsoft.com/sharepoint/v4"/>
    <xsd:element name="properties">
      <xsd:complexType>
        <xsd:sequence>
          <xsd:element name="documentManagement">
            <xsd:complexType>
              <xsd:all>
                <xsd:element ref="ns2:Module" minOccurs="0"/>
                <xsd:element ref="ns4:Material_x0020_Type" minOccurs="0"/>
                <xsd:element ref="ns4:l7b2ab0bdfd44a35b74e2b898cee1656" minOccurs="0"/>
                <xsd:element ref="ns2:TaxCatchAll" minOccurs="0"/>
                <xsd:element ref="ns4:Status" minOccurs="0"/>
                <xsd:element ref="ns5:IconOverlay" minOccurs="0"/>
                <xsd:element ref="ns4:Order0" minOccurs="0"/>
                <xsd:element ref="ns2:ID1" minOccurs="0"/>
                <xsd:element ref="ns4:Keyword" minOccurs="0"/>
                <xsd:element ref="ns2:Ro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b31557-403a-41bb-888d-f1cbfffaf482" elementFormDefault="qualified">
    <xsd:import namespace="http://schemas.microsoft.com/office/2006/documentManagement/types"/>
    <xsd:import namespace="http://schemas.microsoft.com/office/infopath/2007/PartnerControls"/>
    <xsd:element name="Module" ma:index="8" nillable="true" ma:displayName="Module" ma:description="Lookup to full list of modules across all analyst programs" ma:list="{72db06d7-a535-4b90-9594-3d140d723472}" ma:internalName="Module" ma:readOnly="false" ma:showField="LinkTitleNoMenu" ma:web="7eb31557-403a-41bb-888d-f1cbfffaf482">
      <xsd:complexType>
        <xsd:complexContent>
          <xsd:extension base="dms:MultiChoiceLookup">
            <xsd:sequence>
              <xsd:element name="Value" type="dms:Lookup" maxOccurs="unbounded" minOccurs="0" nillable="true"/>
            </xsd:sequence>
          </xsd:extension>
        </xsd:complexContent>
      </xsd:complexType>
    </xsd:element>
    <xsd:element name="TaxCatchAll" ma:index="14" nillable="true" ma:displayName="Taxonomy Catch All Column" ma:hidden="true" ma:list="{a0616ba9-9003-4e78-a472-cc4b73b98da4}" ma:internalName="TaxCatchAll" ma:showField="CatchAllData" ma:web="7eb31557-403a-41bb-888d-f1cbfffaf482">
      <xsd:complexType>
        <xsd:complexContent>
          <xsd:extension base="dms:MultiChoiceLookup">
            <xsd:sequence>
              <xsd:element name="Value" type="dms:Lookup" maxOccurs="unbounded" minOccurs="0" nillable="true"/>
            </xsd:sequence>
          </xsd:extension>
        </xsd:complexContent>
      </xsd:complexType>
    </xsd:element>
    <xsd:element name="ID1" ma:index="18" nillable="true" ma:displayName="ID" ma:internalName="_x0049_D1">
      <xsd:simpleType>
        <xsd:restriction base="dms:Text">
          <xsd:maxLength value="255"/>
        </xsd:restriction>
      </xsd:simpleType>
    </xsd:element>
    <xsd:element name="Roles" ma:index="20" nillable="true" ma:displayName="Roles" ma:list="{1a8d8295-e8db-4de5-b01d-d7800e803693}" ma:internalName="Roles" ma:showField="Title" ma:web="7eb31557-403a-41bb-888d-f1cbfffaf48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0ff4d4a-0e96-48c8-bf4b-c181ad9f8021" elementFormDefault="qualified">
    <xsd:import namespace="http://schemas.microsoft.com/office/2006/documentManagement/types"/>
    <xsd:import namespace="http://schemas.microsoft.com/office/infopath/2007/PartnerControls"/>
    <xsd:element name="Material_x0020_Type" ma:index="11" nillable="true" ma:displayName="Material Type" ma:description="" ma:format="Dropdown" ma:indexed="true" ma:internalName="Material_x0020_Type">
      <xsd:simpleType>
        <xsd:restriction base="dms:Choice">
          <xsd:enumeration value="Slides"/>
          <xsd:enumeration value="Slides Faculty"/>
          <xsd:enumeration value="Slides Participant"/>
          <xsd:enumeration value="Faculty"/>
          <xsd:enumeration value="Faculty Guide"/>
          <xsd:enumeration value="Activity"/>
          <xsd:enumeration value="Case Study"/>
          <xsd:enumeration value="Example Case Studies"/>
          <xsd:enumeration value="Link"/>
          <xsd:enumeration value="Supplemental"/>
          <xsd:enumeration value="Template"/>
          <xsd:enumeration value="Solution"/>
          <xsd:enumeration value="Module Outline"/>
          <xsd:enumeration value="Packaged Material"/>
          <xsd:enumeration value="Print Only"/>
          <xsd:enumeration value="Core"/>
          <xsd:enumeration value="FP Source"/>
        </xsd:restriction>
      </xsd:simpleType>
    </xsd:element>
    <xsd:element name="l7b2ab0bdfd44a35b74e2b898cee1656" ma:index="13" nillable="true" ma:taxonomy="true" ma:internalName="l7b2ab0bdfd44a35b74e2b898cee1656" ma:taxonomyFieldName="Tags" ma:displayName="Keywords" ma:default="" ma:fieldId="{57b2ab0b-dfd4-4a35-b74e-2b898cee1656}" ma:taxonomyMulti="true" ma:sspId="c66066cc-cc5d-4abc-9aac-07942497676c" ma:termSetId="08b973ab-4c74-43f6-b1da-aab615a351ab" ma:anchorId="00000000-0000-0000-0000-000000000000" ma:open="false" ma:isKeyword="false">
      <xsd:complexType>
        <xsd:sequence>
          <xsd:element ref="pc:Terms" minOccurs="0" maxOccurs="1"/>
        </xsd:sequence>
      </xsd:complexType>
    </xsd:element>
    <xsd:element name="Status" ma:index="15" nillable="true" ma:displayName="Status" ma:default="Draft" ma:format="RadioButtons" ma:indexed="true" ma:internalName="Status">
      <xsd:simpleType>
        <xsd:restriction base="dms:Choice">
          <xsd:enumeration value="Draft"/>
          <xsd:enumeration value="Review"/>
          <xsd:enumeration value="Final"/>
        </xsd:restriction>
      </xsd:simpleType>
    </xsd:element>
    <xsd:element name="Order0" ma:index="17" nillable="true" ma:displayName="Order" ma:internalName="Order0">
      <xsd:simpleType>
        <xsd:restriction base="dms:Text">
          <xsd:maxLength value="255"/>
        </xsd:restriction>
      </xsd:simpleType>
    </xsd:element>
    <xsd:element name="Keyword" ma:index="19" nillable="true" ma:displayName="Keyword" ma:list="{4802137c-7438-4c46-b5dc-553b2cbec887}" ma:internalName="Keyword" ma:showField="Titl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6"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ma:index="9" ma:displayName="Author"/>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ma:index="10" ma:displayName="Description"/>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odule xmlns="7eb31557-403a-41bb-888d-f1cbfffaf482"/>
    <Material_x0020_Type xmlns="90ff4d4a-0e96-48c8-bf4b-c181ad9f8021" xsi:nil="true"/>
    <Roles xmlns="7eb31557-403a-41bb-888d-f1cbfffaf482"/>
    <IconOverlay xmlns="http://schemas.microsoft.com/sharepoint/v4" xsi:nil="true"/>
    <Order0 xmlns="90ff4d4a-0e96-48c8-bf4b-c181ad9f8021" xsi:nil="true"/>
    <Keyword xmlns="90ff4d4a-0e96-48c8-bf4b-c181ad9f8021"/>
    <Status xmlns="90ff4d4a-0e96-48c8-bf4b-c181ad9f8021">Draft</Status>
    <TaxCatchAll xmlns="7eb31557-403a-41bb-888d-f1cbfffaf482"/>
    <ID1 xmlns="7eb31557-403a-41bb-888d-f1cbfffaf482" xsi:nil="true"/>
    <l7b2ab0bdfd44a35b74e2b898cee1656 xmlns="90ff4d4a-0e96-48c8-bf4b-c181ad9f8021">
      <Terms xmlns="http://schemas.microsoft.com/office/infopath/2007/PartnerControls"/>
    </l7b2ab0bdfd44a35b74e2b898cee1656>
  </documentManagement>
</p:properties>
</file>

<file path=customXml/itemProps1.xml><?xml version="1.0" encoding="utf-8"?>
<ds:datastoreItem xmlns:ds="http://schemas.openxmlformats.org/officeDocument/2006/customXml" ds:itemID="{AD4A1A2F-B24E-4C9A-B0B5-9737D304B18A}">
  <ds:schemaRefs>
    <ds:schemaRef ds:uri="http://schemas.microsoft.com/sharepoint/v3/contenttype/forms"/>
  </ds:schemaRefs>
</ds:datastoreItem>
</file>

<file path=customXml/itemProps2.xml><?xml version="1.0" encoding="utf-8"?>
<ds:datastoreItem xmlns:ds="http://schemas.openxmlformats.org/officeDocument/2006/customXml" ds:itemID="{8CF581EC-63C4-4B64-8AD4-C228B28D67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eb31557-403a-41bb-888d-f1cbfffaf482"/>
    <ds:schemaRef ds:uri="90ff4d4a-0e96-48c8-bf4b-c181ad9f8021"/>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E569889-0094-45BC-AFCA-2BCF1A6016C1}">
  <ds:schemaRefs>
    <ds:schemaRef ds:uri="http://schemas.microsoft.com/office/2006/metadata/properties"/>
    <ds:schemaRef ds:uri="http://schemas.microsoft.com/sharepoint/v4"/>
    <ds:schemaRef ds:uri="http://purl.org/dc/dcmitype/"/>
    <ds:schemaRef ds:uri="http://purl.org/dc/elements/1.1/"/>
    <ds:schemaRef ds:uri="http://schemas.microsoft.com/office/infopath/2007/PartnerControls"/>
    <ds:schemaRef ds:uri="http://purl.org/dc/terms/"/>
    <ds:schemaRef ds:uri="http://www.w3.org/XML/1998/namespace"/>
    <ds:schemaRef ds:uri="http://schemas.microsoft.com/office/2006/documentManagement/types"/>
    <ds:schemaRef ds:uri="http://schemas.openxmlformats.org/package/2006/metadata/core-properties"/>
    <ds:schemaRef ds:uri="90ff4d4a-0e96-48c8-bf4b-c181ad9f8021"/>
    <ds:schemaRef ds:uri="7eb31557-403a-41bb-888d-f1cbfffaf482"/>
  </ds:schemaRefs>
</ds:datastoreItem>
</file>

<file path=docProps/app.xml><?xml version="1.0" encoding="utf-8"?>
<Properties xmlns="http://schemas.openxmlformats.org/officeDocument/2006/extended-properties" xmlns:vt="http://schemas.openxmlformats.org/officeDocument/2006/docPropsVTypes">
  <TotalTime>1861</TotalTime>
  <Words>2304</Words>
  <Application>Microsoft Office PowerPoint</Application>
  <PresentationFormat>On-screen Show (4:3)</PresentationFormat>
  <Paragraphs>141</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Slide_Deck_Master_Template_GADP-5</vt:lpstr>
      <vt:lpstr>PowerPoint Presentation</vt:lpstr>
      <vt:lpstr>Agenda</vt:lpstr>
      <vt:lpstr>Testing </vt:lpstr>
      <vt:lpstr>Testing Pipeline</vt:lpstr>
      <vt:lpstr>The Testing Universe</vt:lpstr>
      <vt:lpstr>The Testing Universe Cont.</vt:lpstr>
      <vt:lpstr>Testing @ JPMC</vt:lpstr>
      <vt:lpstr>Unit Testing</vt:lpstr>
      <vt:lpstr>Integration Testing</vt:lpstr>
      <vt:lpstr>End to End Testing</vt:lpstr>
      <vt:lpstr>Testing Frameworks</vt:lpstr>
      <vt:lpstr>Appendix</vt:lpstr>
      <vt:lpstr>Facilitator Guide (notes)</vt:lpstr>
      <vt:lpstr>Facilitator Guide (notes)</vt:lpstr>
      <vt:lpstr>Facilitator Guide (notes)</vt:lpstr>
      <vt:lpstr>Facilitator Guide (notes)</vt:lpstr>
      <vt:lpstr>Facilitator Guide (notes)</vt:lpstr>
      <vt:lpstr>Facilitator Guide (notes)</vt:lpstr>
      <vt:lpstr>Facilitator Guide (notes)</vt:lpstr>
      <vt:lpstr>Facilitator Guide (notes)</vt:lpstr>
      <vt:lpstr>Facilitator Guide (notes)</vt:lpstr>
      <vt:lpstr>Facilitator Guide (notes)</vt:lpstr>
      <vt:lpstr>Facilitator Guide (notes)</vt:lpstr>
    </vt:vector>
  </TitlesOfParts>
  <Company>JPMorgan Chase &amp; Co.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Kitts, Harrison</dc:creator>
  <cp:lastModifiedBy>Miller, David L</cp:lastModifiedBy>
  <cp:revision>31</cp:revision>
  <dcterms:created xsi:type="dcterms:W3CDTF">2019-02-20T15:19:08Z</dcterms:created>
  <dcterms:modified xsi:type="dcterms:W3CDTF">2019-05-07T21:37:13Z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0x0101008957B61103CD484AA436DDC545AACE9E</vt:lpwstr>
  </property>
  <property fmtid="{D5CDD505-2E9C-101B-9397-08002B2CF9AE}" pid="3" name="Tags">
    <vt:lpwstr/>
  </property>
</Properties>
</file>